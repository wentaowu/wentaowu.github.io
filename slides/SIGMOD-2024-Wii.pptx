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310" r:id="rId3"/>
    <p:sldId id="258" r:id="rId4"/>
    <p:sldId id="265" r:id="rId5"/>
    <p:sldId id="295" r:id="rId6"/>
    <p:sldId id="282" r:id="rId7"/>
    <p:sldId id="296" r:id="rId8"/>
    <p:sldId id="307" r:id="rId9"/>
    <p:sldId id="291" r:id="rId10"/>
    <p:sldId id="309" r:id="rId11"/>
    <p:sldId id="292" r:id="rId12"/>
    <p:sldId id="287" r:id="rId13"/>
    <p:sldId id="302" r:id="rId14"/>
    <p:sldId id="311" r:id="rId15"/>
    <p:sldId id="303" r:id="rId16"/>
    <p:sldId id="304" r:id="rId17"/>
    <p:sldId id="305" r:id="rId18"/>
    <p:sldId id="306" r:id="rId19"/>
    <p:sldId id="281" r:id="rId20"/>
    <p:sldId id="290" r:id="rId21"/>
    <p:sldId id="283" r:id="rId22"/>
    <p:sldId id="293" r:id="rId23"/>
    <p:sldId id="285" r:id="rId24"/>
    <p:sldId id="31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260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tao Wu" userId="825796278ed48a9e" providerId="LiveId" clId="{7D550BB3-A900-4C43-87C7-2265C266FC92}"/>
    <pc:docChg chg="modSld">
      <pc:chgData name="Wentao Wu" userId="825796278ed48a9e" providerId="LiveId" clId="{7D550BB3-A900-4C43-87C7-2265C266FC92}" dt="2025-10-09T03:04:37.358" v="11" actId="729"/>
      <pc:docMkLst>
        <pc:docMk/>
      </pc:docMkLst>
      <pc:sldChg chg="mod modShow">
        <pc:chgData name="Wentao Wu" userId="825796278ed48a9e" providerId="LiveId" clId="{7D550BB3-A900-4C43-87C7-2265C266FC92}" dt="2025-10-09T03:04:10.256" v="6" actId="729"/>
        <pc:sldMkLst>
          <pc:docMk/>
          <pc:sldMk cId="3013138524" sldId="281"/>
        </pc:sldMkLst>
      </pc:sldChg>
      <pc:sldChg chg="mod modShow">
        <pc:chgData name="Wentao Wu" userId="825796278ed48a9e" providerId="LiveId" clId="{7D550BB3-A900-4C43-87C7-2265C266FC92}" dt="2025-10-09T03:04:26.643" v="8" actId="729"/>
        <pc:sldMkLst>
          <pc:docMk/>
          <pc:sldMk cId="327029583" sldId="283"/>
        </pc:sldMkLst>
      </pc:sldChg>
      <pc:sldChg chg="mod modShow">
        <pc:chgData name="Wentao Wu" userId="825796278ed48a9e" providerId="LiveId" clId="{7D550BB3-A900-4C43-87C7-2265C266FC92}" dt="2025-10-09T03:04:34.153" v="10" actId="729"/>
        <pc:sldMkLst>
          <pc:docMk/>
          <pc:sldMk cId="1117954264" sldId="285"/>
        </pc:sldMkLst>
      </pc:sldChg>
      <pc:sldChg chg="mod modShow">
        <pc:chgData name="Wentao Wu" userId="825796278ed48a9e" providerId="LiveId" clId="{7D550BB3-A900-4C43-87C7-2265C266FC92}" dt="2025-10-09T03:04:22.308" v="7" actId="729"/>
        <pc:sldMkLst>
          <pc:docMk/>
          <pc:sldMk cId="3976074517" sldId="290"/>
        </pc:sldMkLst>
      </pc:sldChg>
      <pc:sldChg chg="mod modShow">
        <pc:chgData name="Wentao Wu" userId="825796278ed48a9e" providerId="LiveId" clId="{7D550BB3-A900-4C43-87C7-2265C266FC92}" dt="2025-10-09T03:04:31.629" v="9" actId="729"/>
        <pc:sldMkLst>
          <pc:docMk/>
          <pc:sldMk cId="1358224519" sldId="293"/>
        </pc:sldMkLst>
      </pc:sldChg>
      <pc:sldChg chg="mod modShow">
        <pc:chgData name="Wentao Wu" userId="825796278ed48a9e" providerId="LiveId" clId="{7D550BB3-A900-4C43-87C7-2265C266FC92}" dt="2025-10-09T03:03:48.340" v="0" actId="729"/>
        <pc:sldMkLst>
          <pc:docMk/>
          <pc:sldMk cId="1119490829" sldId="302"/>
        </pc:sldMkLst>
      </pc:sldChg>
      <pc:sldChg chg="mod modShow">
        <pc:chgData name="Wentao Wu" userId="825796278ed48a9e" providerId="LiveId" clId="{7D550BB3-A900-4C43-87C7-2265C266FC92}" dt="2025-10-09T03:03:56.654" v="2" actId="729"/>
        <pc:sldMkLst>
          <pc:docMk/>
          <pc:sldMk cId="2795375293" sldId="303"/>
        </pc:sldMkLst>
      </pc:sldChg>
      <pc:sldChg chg="mod modShow">
        <pc:chgData name="Wentao Wu" userId="825796278ed48a9e" providerId="LiveId" clId="{7D550BB3-A900-4C43-87C7-2265C266FC92}" dt="2025-10-09T03:04:00.737" v="3" actId="729"/>
        <pc:sldMkLst>
          <pc:docMk/>
          <pc:sldMk cId="2024322329" sldId="304"/>
        </pc:sldMkLst>
      </pc:sldChg>
      <pc:sldChg chg="mod modShow">
        <pc:chgData name="Wentao Wu" userId="825796278ed48a9e" providerId="LiveId" clId="{7D550BB3-A900-4C43-87C7-2265C266FC92}" dt="2025-10-09T03:04:03.546" v="4" actId="729"/>
        <pc:sldMkLst>
          <pc:docMk/>
          <pc:sldMk cId="625337207" sldId="305"/>
        </pc:sldMkLst>
      </pc:sldChg>
      <pc:sldChg chg="mod modShow">
        <pc:chgData name="Wentao Wu" userId="825796278ed48a9e" providerId="LiveId" clId="{7D550BB3-A900-4C43-87C7-2265C266FC92}" dt="2025-10-09T03:04:07.355" v="5" actId="729"/>
        <pc:sldMkLst>
          <pc:docMk/>
          <pc:sldMk cId="3693149236" sldId="306"/>
        </pc:sldMkLst>
      </pc:sldChg>
      <pc:sldChg chg="mod modShow">
        <pc:chgData name="Wentao Wu" userId="825796278ed48a9e" providerId="LiveId" clId="{7D550BB3-A900-4C43-87C7-2265C266FC92}" dt="2025-10-09T03:03:53.501" v="1" actId="729"/>
        <pc:sldMkLst>
          <pc:docMk/>
          <pc:sldMk cId="2582896349" sldId="311"/>
        </pc:sldMkLst>
      </pc:sldChg>
      <pc:sldChg chg="mod modShow">
        <pc:chgData name="Wentao Wu" userId="825796278ed48a9e" providerId="LiveId" clId="{7D550BB3-A900-4C43-87C7-2265C266FC92}" dt="2025-10-09T03:04:37.358" v="11" actId="729"/>
        <pc:sldMkLst>
          <pc:docMk/>
          <pc:sldMk cId="2861504459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29E92-3DC3-478A-8D31-C7CA18521D7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8639D-B7E8-4A2E-A5ED-073AEBE0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09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8639D-B7E8-4A2E-A5ED-073AEBE0C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536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2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8639D-B7E8-4A2E-A5ED-073AEBE0C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461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29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8639D-B7E8-4A2E-A5ED-073AEBE0C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642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81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13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63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53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8639D-B7E8-4A2E-A5ED-073AEBE0C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01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8639D-B7E8-4A2E-A5ED-073AEBE0C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041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8639D-B7E8-4A2E-A5ED-073AEBE0C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619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8639D-B7E8-4A2E-A5ED-073AEBE0C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755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8639D-B7E8-4A2E-A5ED-073AEBE0CB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461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55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06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E46D-2706-749E-9BED-68DB8A44B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C1EF7-BFC7-45F1-1B79-EADEB04E5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E4EF-EE23-3B74-C8C0-DD515F17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960C-E7A2-4842-99C2-966E296B7361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2E2DB-B815-EAD7-C0D4-E9A86F7F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BBB07-AB19-2566-D380-EA11D752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75CE-EA47-2C2C-7E8F-47375000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C1258-49DB-D35A-0EEE-A415EDFA7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C795A-D89F-208E-2CEA-97C6DEB6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A164-5570-4AF6-9FE2-1BF0A828A65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22E90-557A-5645-442F-EAEDE901B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02D1-8975-3519-0608-490EA7F6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3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12F7-C2E8-A23E-E028-323345151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16931-7524-02BF-DBF1-20CB13C89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A9D64-B161-C6C2-16DD-A8760DDC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85A4-FB10-4F7D-A09E-AB88F1383AD6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7B839-2043-ED43-9689-F34B56F7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E1BBC-1EC9-1814-CBBF-3E36A754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5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394D-8AFD-F181-A455-985D9322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33C2F-6C6C-367F-B889-6EAB4FE86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069F2-C0A7-F267-0293-48C06D76D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033E9-C5F0-ECB0-FD59-268E5A29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E9450-9F90-48FF-AB18-36C4D752FD73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857BC-D67A-4AA1-4E2C-F87C7631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10473-4043-22F7-DED4-D3979977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3562-0FE3-1298-1CD7-E51242993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148F7-FFB6-C3B0-665A-71770CBFA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9350E-BC95-67BC-D931-FFD99C2F9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04125-4F59-EC74-947D-069649D92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10BCC-7C5C-DF3F-BEFD-B644F0878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E0FCB-B886-83E7-0F5F-0F299AFD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504E-796A-4A84-A5C2-FDFC9AB6B98A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16D85-421E-4336-958F-6CAD2637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A7581-F543-7C39-28ED-3D2FF11A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0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95B2-C229-6254-759B-4E6AD282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56727-31C1-8A2A-79DF-CF908B7F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6D39-B498-4B2D-946B-A44EBBE63445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EB734-9C75-A468-E7D9-72976EB0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2F1C0-D65E-5CFE-6E82-90803A6F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0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F2466C-E17C-7DCE-FB49-87E680C6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484A-5D22-49FD-B51F-7DB9B1D4BFC8}" type="datetime1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A6306-D9F1-624E-CE45-7E4B982DB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09513-7429-7244-F46C-27F9CCC0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8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78EAE-7BA1-3B46-8D5D-0A9EFB195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0595-A207-6E70-CC10-40C07AF8D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68B27-8B32-D507-D4FB-9E90D6B61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28DB2-F1C6-3ADE-CB59-CFAA0C9C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A5CE-7FB7-4231-99F0-A2B23C02A638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03889-2E18-28BB-7585-B90E5D08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6CD45-BE12-737B-D33B-317FC208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0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2ADD-80E2-582C-FC6C-AD51AC31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B2A10-EC19-ACC8-BCC8-83D9FE1E0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3D8BD-1F34-E2D5-9BD2-7B9EAE7FB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D68AC-68A3-6A65-6BFA-D1D684F24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69B2D-44EA-4D3B-A882-E21D68027EA3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E048F-B7F5-38AA-4BC2-135207CB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CA4F-C254-CC4B-E2A4-36C70450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9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1897-E1A7-7856-D40C-EFEDF1DB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03567-7985-B714-A81C-9B150793F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40307-5603-F1F6-5EDB-2920E886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4454-47E2-4DBB-998F-164B986E59B5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21481-E96B-F188-E48C-9FECDA24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B7D39-EE83-2A3C-2D98-B71E04EB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1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3CBCB-247E-1B5E-D6EC-130480415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1E2D7-F68C-56D3-EBE5-761B2E9FA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55F26-B021-9404-CEDC-8A7E0243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1F3E-A450-42E6-96A7-E93D1C454AC2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E66EF-8752-7A82-4943-6CD1A5F3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251E3-14B3-C743-EC8C-AB8FE6E3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1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9A6AE9-5E2B-A18F-6BC8-3CC48D7B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8E60B-891D-4B39-9F41-DB3FAFE26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9F894-BAAB-4ED0-88D1-EB457D0DD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5C9A4-0EC6-4E14-9E38-8B779494A1FF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FB201-2B39-ABE4-395F-193E720A4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0A8D-2AF7-D1E9-579F-4A2ACDD14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9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E6076-EDA9-2E57-49B3-228E10E2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48878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Wii:</a:t>
            </a:r>
            <a:r>
              <a:rPr lang="en-US" sz="4000" kern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Dynamic Budget Reallocation in Index Tuning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D381A-926E-DAFF-6240-B7E60336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7232" y="649480"/>
            <a:ext cx="5868393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Xiaoying Wang (Simon Fraser University)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b="1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/>
              <a:t>Wentao Wu (Microsoft Research)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b="1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Chi Wang (Microsoft Research)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Vivek Narasayya (Microsoft Research)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Surajit Chaudhuri (Microsoft Research)</a:t>
            </a:r>
          </a:p>
        </p:txBody>
      </p:sp>
    </p:spTree>
    <p:extLst>
      <p:ext uri="{BB962C8B-B14F-4D97-AF65-F5344CB8AC3E}">
        <p14:creationId xmlns:p14="http://schemas.microsoft.com/office/powerpoint/2010/main" val="179860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29"/>
    </mc:Choice>
    <mc:Fallback xmlns="">
      <p:transition spd="slow" advTm="163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oup 28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30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2AAE53-89EF-3667-5199-6800E277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Architecture of Cost-based Index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0AED6-024E-F0B9-8F9F-8BBFC6CE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61F652-6B08-6A57-3788-BE59C47AB510}"/>
              </a:ext>
            </a:extLst>
          </p:cNvPr>
          <p:cNvGrpSpPr/>
          <p:nvPr/>
        </p:nvGrpSpPr>
        <p:grpSpPr>
          <a:xfrm>
            <a:off x="822473" y="1758496"/>
            <a:ext cx="2976950" cy="1917701"/>
            <a:chOff x="822473" y="1758496"/>
            <a:chExt cx="2976950" cy="1917701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E70D4F72-6680-0319-26E2-8952E9B3E78F}"/>
                </a:ext>
              </a:extLst>
            </p:cNvPr>
            <p:cNvSpPr/>
            <p:nvPr/>
          </p:nvSpPr>
          <p:spPr>
            <a:xfrm>
              <a:off x="822473" y="3355398"/>
              <a:ext cx="2976950" cy="320799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45DC648-947C-302D-2393-C1898F2C7635}"/>
                    </a:ext>
                  </a:extLst>
                </p:cNvPr>
                <p:cNvSpPr txBox="1"/>
                <p:nvPr/>
              </p:nvSpPr>
              <p:spPr>
                <a:xfrm>
                  <a:off x="822475" y="1758496"/>
                  <a:ext cx="2872591" cy="1477328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u="sng"/>
                    <a:t>Input of Index Tuner:</a:t>
                  </a:r>
                </a:p>
                <a:p>
                  <a:endParaRPr lang="en-US" b="1" u="sng"/>
                </a:p>
                <a:p>
                  <a:r>
                    <a:rPr lang="en-US"/>
                    <a:t>(1) A workload, i.e., a set of SQL queries, </a:t>
                  </a:r>
                  <a14:m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1800" i="1"/>
                    <a:t>.</a:t>
                  </a:r>
                </a:p>
                <a:p>
                  <a:r>
                    <a:rPr lang="en-US"/>
                    <a:t>(2) A set of constraints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a14:m>
                  <a:r>
                    <a:rPr lang="en-US"/>
                    <a:t>.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45DC648-947C-302D-2393-C1898F2C7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475" y="1758496"/>
                  <a:ext cx="2872591" cy="1477328"/>
                </a:xfrm>
                <a:prstGeom prst="rect">
                  <a:avLst/>
                </a:prstGeom>
                <a:blipFill>
                  <a:blip r:embed="rId4"/>
                  <a:stretch>
                    <a:fillRect l="-1474" t="-1215" b="-4453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A209493-6900-4572-3A49-8820394F819C}"/>
              </a:ext>
            </a:extLst>
          </p:cNvPr>
          <p:cNvGrpSpPr/>
          <p:nvPr/>
        </p:nvGrpSpPr>
        <p:grpSpPr>
          <a:xfrm>
            <a:off x="423945" y="3776315"/>
            <a:ext cx="3479557" cy="2474421"/>
            <a:chOff x="491804" y="3716828"/>
            <a:chExt cx="3479557" cy="2474421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252A0465-AF80-1C09-D281-3EF95C9409A0}"/>
                </a:ext>
              </a:extLst>
            </p:cNvPr>
            <p:cNvSpPr/>
            <p:nvPr/>
          </p:nvSpPr>
          <p:spPr>
            <a:xfrm rot="10800000">
              <a:off x="822473" y="3716828"/>
              <a:ext cx="2976950" cy="320799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F6AFFD7-F63D-9FDF-9EA5-B4FB1D5D8942}"/>
                    </a:ext>
                  </a:extLst>
                </p:cNvPr>
                <p:cNvSpPr txBox="1"/>
                <p:nvPr/>
              </p:nvSpPr>
              <p:spPr>
                <a:xfrm>
                  <a:off x="491804" y="4165630"/>
                  <a:ext cx="3479557" cy="2025619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u="sng" dirty="0"/>
                    <a:t>Output of Index Tuner:</a:t>
                  </a:r>
                </a:p>
                <a:p>
                  <a:endParaRPr lang="en-US" b="1" u="sng" dirty="0"/>
                </a:p>
                <a:p>
                  <a:r>
                    <a:rPr lang="en-US" dirty="0"/>
                    <a:t>The best configuration (i.e., subset) of indexes that minimizes the total workload cost: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9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brk m:alnAt="9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𝑐𝑜𝑠𝑡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F6AFFD7-F63D-9FDF-9EA5-B4FB1D5D89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804" y="4165630"/>
                  <a:ext cx="3479557" cy="2025619"/>
                </a:xfrm>
                <a:prstGeom prst="rect">
                  <a:avLst/>
                </a:prstGeom>
                <a:blipFill>
                  <a:blip r:embed="rId5"/>
                  <a:stretch>
                    <a:fillRect l="-1220" t="-893" r="-2091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BB2C54-CCB9-3813-6A08-0DBD4EB1CDFA}"/>
              </a:ext>
            </a:extLst>
          </p:cNvPr>
          <p:cNvSpPr/>
          <p:nvPr/>
        </p:nvSpPr>
        <p:spPr>
          <a:xfrm>
            <a:off x="4111939" y="1763755"/>
            <a:ext cx="3203260" cy="44217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FE8750-4004-1DED-38BB-7F77938536EC}"/>
              </a:ext>
            </a:extLst>
          </p:cNvPr>
          <p:cNvSpPr/>
          <p:nvPr/>
        </p:nvSpPr>
        <p:spPr>
          <a:xfrm>
            <a:off x="4293450" y="3527892"/>
            <a:ext cx="2881171" cy="69285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Candidate Index 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Generation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EC5FC18-2159-37E6-91F2-3AAD87D10C79}"/>
              </a:ext>
            </a:extLst>
          </p:cNvPr>
          <p:cNvSpPr/>
          <p:nvPr/>
        </p:nvSpPr>
        <p:spPr>
          <a:xfrm>
            <a:off x="4693950" y="4308714"/>
            <a:ext cx="372034" cy="842229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7DBC6A-CF4F-7761-05AB-6D77FE703032}"/>
              </a:ext>
            </a:extLst>
          </p:cNvPr>
          <p:cNvSpPr/>
          <p:nvPr/>
        </p:nvSpPr>
        <p:spPr>
          <a:xfrm>
            <a:off x="4293450" y="5237685"/>
            <a:ext cx="2881171" cy="7941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Configuration Enumeration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4CEF1A-8CAC-0271-54EF-727791464CD7}"/>
              </a:ext>
            </a:extLst>
          </p:cNvPr>
          <p:cNvSpPr txBox="1"/>
          <p:nvPr/>
        </p:nvSpPr>
        <p:spPr>
          <a:xfrm>
            <a:off x="4873496" y="1740862"/>
            <a:ext cx="1751958" cy="477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Index Tuner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F2F959-9760-8360-DE13-9C93E72696F4}"/>
              </a:ext>
            </a:extLst>
          </p:cNvPr>
          <p:cNvGrpSpPr/>
          <p:nvPr/>
        </p:nvGrpSpPr>
        <p:grpSpPr>
          <a:xfrm>
            <a:off x="4266881" y="2163099"/>
            <a:ext cx="2942382" cy="1351243"/>
            <a:chOff x="4266881" y="2163099"/>
            <a:chExt cx="2942382" cy="135124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FE83092-1842-E3B1-A892-B9AEFFCBB5E2}"/>
                </a:ext>
              </a:extLst>
            </p:cNvPr>
            <p:cNvSpPr/>
            <p:nvPr/>
          </p:nvSpPr>
          <p:spPr>
            <a:xfrm>
              <a:off x="4266881" y="2163099"/>
              <a:ext cx="2881171" cy="66812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</a:rPr>
                <a:t>Workload Parsing/Analysis</a:t>
              </a: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C8F5633-CBD2-3856-0ACE-EFCEA2D2AC9D}"/>
                </a:ext>
              </a:extLst>
            </p:cNvPr>
            <p:cNvSpPr/>
            <p:nvPr/>
          </p:nvSpPr>
          <p:spPr>
            <a:xfrm>
              <a:off x="4693950" y="2893450"/>
              <a:ext cx="336707" cy="580098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D4D045A-0150-3B36-D923-AC4DB0589DED}"/>
                </a:ext>
              </a:extLst>
            </p:cNvPr>
            <p:cNvSpPr txBox="1"/>
            <p:nvPr/>
          </p:nvSpPr>
          <p:spPr>
            <a:xfrm>
              <a:off x="5196301" y="2868011"/>
              <a:ext cx="20129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Indexable columns, e.g., filter, join, etc.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5D306E0-A720-FD61-E0C2-6F4626E526FB}"/>
              </a:ext>
            </a:extLst>
          </p:cNvPr>
          <p:cNvSpPr txBox="1"/>
          <p:nvPr/>
        </p:nvSpPr>
        <p:spPr>
          <a:xfrm>
            <a:off x="5175942" y="4234295"/>
            <a:ext cx="2012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Candidate indexes:</a:t>
            </a:r>
          </a:p>
          <a:p>
            <a:r>
              <a:rPr lang="en-US"/>
              <a:t>I = &lt;key columns, included columns&gt;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0CA660-8C64-458A-48E3-CB539778F5E4}"/>
              </a:ext>
            </a:extLst>
          </p:cNvPr>
          <p:cNvGrpSpPr/>
          <p:nvPr/>
        </p:nvGrpSpPr>
        <p:grpSpPr>
          <a:xfrm>
            <a:off x="9280068" y="1760476"/>
            <a:ext cx="2115851" cy="4421722"/>
            <a:chOff x="9450398" y="1688756"/>
            <a:chExt cx="2115851" cy="442172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246B2BB-28E0-4E23-ED1A-F5FA1C876B6A}"/>
                </a:ext>
              </a:extLst>
            </p:cNvPr>
            <p:cNvSpPr/>
            <p:nvPr/>
          </p:nvSpPr>
          <p:spPr>
            <a:xfrm>
              <a:off x="9450398" y="1688756"/>
              <a:ext cx="2115851" cy="442172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1EFD894-D041-9D8E-1F3B-51A1E65DC0DD}"/>
                </a:ext>
              </a:extLst>
            </p:cNvPr>
            <p:cNvSpPr/>
            <p:nvPr/>
          </p:nvSpPr>
          <p:spPr>
            <a:xfrm>
              <a:off x="9664702" y="3624678"/>
              <a:ext cx="1724465" cy="225665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Query Optimizer</a:t>
              </a: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(Extended)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9E472E3-633A-F08B-6F81-AFF13DE331DB}"/>
                </a:ext>
              </a:extLst>
            </p:cNvPr>
            <p:cNvSpPr txBox="1"/>
            <p:nvPr/>
          </p:nvSpPr>
          <p:spPr>
            <a:xfrm>
              <a:off x="9815130" y="1698058"/>
              <a:ext cx="13448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Database</a:t>
              </a:r>
            </a:p>
            <a:p>
              <a:r>
                <a:rPr lang="en-US" sz="2400"/>
                <a:t>Server</a:t>
              </a:r>
            </a:p>
          </p:txBody>
        </p:sp>
        <p:sp>
          <p:nvSpPr>
            <p:cNvPr id="31" name="Flowchart: Magnetic Disk 30">
              <a:extLst>
                <a:ext uri="{FF2B5EF4-FFF2-40B4-BE49-F238E27FC236}">
                  <a16:creationId xmlns:a16="http://schemas.microsoft.com/office/drawing/2014/main" id="{91D6A25D-229B-A80D-B733-5B231D4C1D30}"/>
                </a:ext>
              </a:extLst>
            </p:cNvPr>
            <p:cNvSpPr/>
            <p:nvPr/>
          </p:nvSpPr>
          <p:spPr>
            <a:xfrm>
              <a:off x="9936549" y="2642090"/>
              <a:ext cx="1101970" cy="718169"/>
            </a:xfrm>
            <a:prstGeom prst="flowChartMagneticDisk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1302D88-493E-AEB1-9CD6-9AE312EDB436}"/>
              </a:ext>
            </a:extLst>
          </p:cNvPr>
          <p:cNvGrpSpPr/>
          <p:nvPr/>
        </p:nvGrpSpPr>
        <p:grpSpPr>
          <a:xfrm>
            <a:off x="7476236" y="3902081"/>
            <a:ext cx="1686380" cy="1831747"/>
            <a:chOff x="7646566" y="3830361"/>
            <a:chExt cx="1686380" cy="1831747"/>
          </a:xfrm>
        </p:grpSpPr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2326D0D1-78B5-066F-4151-24B48F887D61}"/>
                </a:ext>
              </a:extLst>
            </p:cNvPr>
            <p:cNvSpPr/>
            <p:nvPr/>
          </p:nvSpPr>
          <p:spPr>
            <a:xfrm rot="10800000">
              <a:off x="7748373" y="4941806"/>
              <a:ext cx="1467121" cy="265141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394CC39-6147-92C2-A10D-4518586181CD}"/>
                    </a:ext>
                  </a:extLst>
                </p:cNvPr>
                <p:cNvSpPr txBox="1"/>
                <p:nvPr/>
              </p:nvSpPr>
              <p:spPr>
                <a:xfrm>
                  <a:off x="7759415" y="5261998"/>
                  <a:ext cx="157353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𝑐𝑜𝑠𝑡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394CC39-6147-92C2-A10D-4518586181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9415" y="5261998"/>
                  <a:ext cx="1573531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8C9635C1-99C1-5A82-F373-38A47CCBE3BA}"/>
                </a:ext>
              </a:extLst>
            </p:cNvPr>
            <p:cNvSpPr/>
            <p:nvPr/>
          </p:nvSpPr>
          <p:spPr>
            <a:xfrm>
              <a:off x="7759415" y="4512270"/>
              <a:ext cx="1467121" cy="265141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6DFF252-3337-BFD1-A406-E210347E4DF5}"/>
                    </a:ext>
                  </a:extLst>
                </p:cNvPr>
                <p:cNvSpPr txBox="1"/>
                <p:nvPr/>
              </p:nvSpPr>
              <p:spPr>
                <a:xfrm>
                  <a:off x="7646566" y="3830361"/>
                  <a:ext cx="164279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/>
                    <a:t>What-if call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6DFF252-3337-BFD1-A406-E210347E4D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566" y="3830361"/>
                  <a:ext cx="1642795" cy="707886"/>
                </a:xfrm>
                <a:prstGeom prst="rect">
                  <a:avLst/>
                </a:prstGeom>
                <a:blipFill>
                  <a:blip r:embed="rId7"/>
                  <a:stretch>
                    <a:fillRect t="-4310" b="-86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51876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407"/>
    </mc:Choice>
    <mc:Fallback xmlns="">
      <p:transition spd="slow" advTm="1224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321732"/>
            <a:ext cx="7058307" cy="1964266"/>
          </a:xfrm>
          <a:prstGeom prst="rect">
            <a:avLst/>
          </a:prstGeom>
          <a:solidFill>
            <a:srgbClr val="3B69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A9859-772A-C495-3E49-97633D053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516804"/>
            <a:ext cx="6594189" cy="16252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What-if Calls are Expensive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D30126-6314-4A93-B27E-5C66CF78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4" y="2432305"/>
            <a:ext cx="7056669" cy="4102852"/>
          </a:xfrm>
          <a:prstGeom prst="rect">
            <a:avLst/>
          </a:prstGeom>
          <a:solidFill>
            <a:srgbClr val="7F7F7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3C580-2149-0CA4-83ED-AEFC7D538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44" y="2871652"/>
            <a:ext cx="6579910" cy="322415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4C552-F62A-53C4-C3A5-57D188A48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2563" y="963398"/>
            <a:ext cx="4239402" cy="4852362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A what-if call is as expensive as a regular query optimizer call.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What-if calls dominate index tuning time.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TPC-DS, 99 queries, 20 recommended indexes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Greedy search (adopted by commercial index tuning software)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B66F1-2BA7-D847-150D-53CC613F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1020" y="6457426"/>
            <a:ext cx="2681796" cy="400574"/>
          </a:xfrm>
        </p:spPr>
        <p:txBody>
          <a:bodyPr/>
          <a:lstStyle/>
          <a:p>
            <a:fld id="{6BDD045F-69BF-4B57-8EEA-5508235BA5BA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689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682"/>
    </mc:Choice>
    <mc:Fallback xmlns="">
      <p:transition spd="slow" advTm="586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oup 28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30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2AAE53-89EF-3667-5199-6800E277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10069151" cy="103051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Many What-If Calls Are Inessential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0AED6-024E-F0B9-8F9F-8BBFC6CE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5284E-7E2C-8EAF-991A-DF5E766EE6BC}"/>
              </a:ext>
            </a:extLst>
          </p:cNvPr>
          <p:cNvSpPr txBox="1"/>
          <p:nvPr/>
        </p:nvSpPr>
        <p:spPr>
          <a:xfrm>
            <a:off x="685770" y="1616877"/>
            <a:ext cx="11109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Inessential</a:t>
            </a:r>
            <a:r>
              <a:rPr lang="en-US" sz="2400" dirty="0"/>
              <a:t> What-if Call: The </a:t>
            </a:r>
            <a:r>
              <a:rPr lang="en-US" sz="2400" i="1" dirty="0">
                <a:solidFill>
                  <a:srgbClr val="C00000"/>
                </a:solidFill>
              </a:rPr>
              <a:t>relative gap</a:t>
            </a:r>
            <a:r>
              <a:rPr lang="en-US" sz="2400" dirty="0"/>
              <a:t> between </a:t>
            </a:r>
            <a:r>
              <a:rPr lang="en-US" sz="2400" i="1" dirty="0">
                <a:solidFill>
                  <a:srgbClr val="C00000"/>
                </a:solidFill>
              </a:rPr>
              <a:t>what-if cost </a:t>
            </a:r>
            <a:r>
              <a:rPr lang="en-US" sz="2400" dirty="0"/>
              <a:t>and </a:t>
            </a:r>
            <a:r>
              <a:rPr lang="en-US" sz="2400" i="1" dirty="0">
                <a:solidFill>
                  <a:srgbClr val="C00000"/>
                </a:solidFill>
              </a:rPr>
              <a:t>derived cost </a:t>
            </a:r>
            <a:r>
              <a:rPr lang="en-US" sz="2400" dirty="0"/>
              <a:t>is small.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771177-BFDC-31C3-7507-B6298E2BA735}"/>
                  </a:ext>
                </a:extLst>
              </p:cNvPr>
              <p:cNvSpPr txBox="1"/>
              <p:nvPr/>
            </p:nvSpPr>
            <p:spPr>
              <a:xfrm>
                <a:off x="779821" y="2119955"/>
                <a:ext cx="10660928" cy="707886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u="sng" dirty="0"/>
                  <a:t>Derived Cost: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2000" dirty="0"/>
                  <a:t>, which is an upper-bound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000" dirty="0"/>
                  <a:t> if we assume that the cost function is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monotonic</a:t>
                </a:r>
                <a:r>
                  <a:rPr lang="en-US" sz="2000" dirty="0"/>
                  <a:t> (i.e., more indexes are better).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771177-BFDC-31C3-7507-B6298E2B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21" y="2119955"/>
                <a:ext cx="10660928" cy="707886"/>
              </a:xfrm>
              <a:prstGeom prst="rect">
                <a:avLst/>
              </a:prstGeom>
              <a:blipFill>
                <a:blip r:embed="rId3"/>
                <a:stretch>
                  <a:fillRect l="-513" t="-3333" r="-399" b="-12500"/>
                </a:stretch>
              </a:blipFill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CC06F0EE-9C7E-0B56-9C5D-2853CBADE1BB}"/>
              </a:ext>
            </a:extLst>
          </p:cNvPr>
          <p:cNvGrpSpPr/>
          <p:nvPr/>
        </p:nvGrpSpPr>
        <p:grpSpPr>
          <a:xfrm>
            <a:off x="838200" y="2951346"/>
            <a:ext cx="4807050" cy="3770129"/>
            <a:chOff x="6289654" y="2315796"/>
            <a:chExt cx="5483704" cy="45373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4643759-CD73-F30E-5C12-19FCFFEAF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9654" y="2315796"/>
              <a:ext cx="5362045" cy="335037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C45AF91-18F8-40B6-4D2B-A6A33B25FAA9}"/>
                    </a:ext>
                  </a:extLst>
                </p:cNvPr>
                <p:cNvSpPr txBox="1"/>
                <p:nvPr/>
              </p:nvSpPr>
              <p:spPr>
                <a:xfrm>
                  <a:off x="6533022" y="5771786"/>
                  <a:ext cx="5240336" cy="10813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/>
                    <a:t>Distribution of Relative Gap for TPC-DS, </a:t>
                  </a:r>
                  <a:r>
                    <a:rPr lang="en-US" sz="2000" b="1" u="sng" dirty="0"/>
                    <a:t>Relative Gap:</a:t>
                  </a:r>
                  <a:r>
                    <a:rPr lang="en-US" sz="2000" b="1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×100%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C45AF91-18F8-40B6-4D2B-A6A33B25F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3022" y="5771786"/>
                  <a:ext cx="5240336" cy="1081365"/>
                </a:xfrm>
                <a:prstGeom prst="rect">
                  <a:avLst/>
                </a:prstGeom>
                <a:blipFill>
                  <a:blip r:embed="rId5"/>
                  <a:stretch>
                    <a:fillRect l="-1326" t="-33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4AB36F-F6BA-C753-803C-243A35AC6EEA}"/>
                  </a:ext>
                </a:extLst>
              </p:cNvPr>
              <p:cNvSpPr txBox="1"/>
              <p:nvPr/>
            </p:nvSpPr>
            <p:spPr>
              <a:xfrm>
                <a:off x="6169571" y="3068601"/>
                <a:ext cx="5253316" cy="3046988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/>
                  <a:t>Observations:</a:t>
                </a:r>
                <a:r>
                  <a:rPr lang="en-US" sz="2400" dirty="0"/>
                  <a:t> </a:t>
                </a:r>
              </a:p>
              <a:p>
                <a:endParaRPr lang="en-US" sz="2400" dirty="0">
                  <a:solidFill>
                    <a:srgbClr val="C00000"/>
                  </a:solidFill>
                </a:endParaRPr>
              </a:p>
              <a:p>
                <a:r>
                  <a:rPr lang="en-US" sz="2400" dirty="0"/>
                  <a:t>(1)</a:t>
                </a:r>
                <a:r>
                  <a:rPr lang="en-US" sz="2400" dirty="0">
                    <a:solidFill>
                      <a:srgbClr val="C00000"/>
                    </a:solidFill>
                  </a:rPr>
                  <a:t> 80% to 90% </a:t>
                </a:r>
                <a:r>
                  <a:rPr lang="en-US" sz="2400" dirty="0"/>
                  <a:t>of the what-if calls made during index tuning are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inessential</a:t>
                </a:r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(2) We can replace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400" dirty="0"/>
                  <a:t>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400" dirty="0"/>
                  <a:t>  for </a:t>
                </a:r>
                <a:r>
                  <a:rPr lang="en-US" sz="2400" dirty="0">
                    <a:solidFill>
                      <a:srgbClr val="C00000"/>
                    </a:solidFill>
                  </a:rPr>
                  <a:t>inessential</a:t>
                </a:r>
                <a:r>
                  <a:rPr lang="en-US" sz="2400" dirty="0"/>
                  <a:t> what-if calls to </a:t>
                </a:r>
                <a:r>
                  <a:rPr lang="en-US" sz="2400" dirty="0">
                    <a:solidFill>
                      <a:srgbClr val="C00000"/>
                    </a:solidFill>
                  </a:rPr>
                  <a:t>save the overhead</a:t>
                </a:r>
                <a:r>
                  <a:rPr lang="en-US" sz="2400" dirty="0"/>
                  <a:t> of making these what-if calls.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4AB36F-F6BA-C753-803C-243A35AC6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571" y="3068601"/>
                <a:ext cx="5253316" cy="3046988"/>
              </a:xfrm>
              <a:prstGeom prst="rect">
                <a:avLst/>
              </a:prstGeom>
              <a:blipFill>
                <a:blip r:embed="rId6"/>
                <a:stretch>
                  <a:fillRect l="-1501" t="-1190" r="-1039" b="-3175"/>
                </a:stretch>
              </a:blipFill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79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62BC3-1410-39C4-9EF6-741F91A8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Can We Skip Inessential What-If Calls?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3C860-CC15-E251-5C07-3B5A6093A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367" y="511388"/>
            <a:ext cx="6918036" cy="5546047"/>
          </a:xfrm>
        </p:spPr>
        <p:txBody>
          <a:bodyPr anchor="ctr">
            <a:noAutofit/>
          </a:bodyPr>
          <a:lstStyle/>
          <a:p>
            <a:r>
              <a:rPr lang="en-US" b="1" u="sng" dirty="0"/>
              <a:t>Challenge:</a:t>
            </a:r>
            <a:r>
              <a:rPr lang="en-US" dirty="0"/>
              <a:t> We need to skip an inessential what-if call </a:t>
            </a:r>
            <a:r>
              <a:rPr lang="en-US" i="1" dirty="0">
                <a:solidFill>
                  <a:srgbClr val="C00000"/>
                </a:solidFill>
              </a:rPr>
              <a:t>before</a:t>
            </a:r>
            <a:r>
              <a:rPr lang="en-US" dirty="0"/>
              <a:t> it is made.</a:t>
            </a:r>
          </a:p>
          <a:p>
            <a:endParaRPr lang="en-US" dirty="0"/>
          </a:p>
          <a:p>
            <a:r>
              <a:rPr lang="en-US" dirty="0"/>
              <a:t>Idea #1: Skip a what-if call </a:t>
            </a:r>
            <a:r>
              <a:rPr lang="en-US" i="1" dirty="0">
                <a:solidFill>
                  <a:srgbClr val="C00000"/>
                </a:solidFill>
              </a:rPr>
              <a:t>randomly</a:t>
            </a:r>
            <a:r>
              <a:rPr lang="en-US" dirty="0"/>
              <a:t>?</a:t>
            </a:r>
          </a:p>
          <a:p>
            <a:pPr lvl="1"/>
            <a:r>
              <a:rPr lang="en-US" b="1" u="sng" dirty="0"/>
              <a:t>Benefit:</a:t>
            </a:r>
            <a:r>
              <a:rPr lang="en-US" dirty="0"/>
              <a:t> Almost zero overhead.</a:t>
            </a:r>
          </a:p>
          <a:p>
            <a:pPr lvl="1"/>
            <a:r>
              <a:rPr lang="en-US" dirty="0"/>
              <a:t>We will show that this approach does not work.</a:t>
            </a:r>
          </a:p>
          <a:p>
            <a:pPr lvl="1"/>
            <a:endParaRPr lang="en-US" sz="2800" dirty="0"/>
          </a:p>
          <a:p>
            <a:r>
              <a:rPr lang="en-US" dirty="0"/>
              <a:t>Idea #2: Bounding what-if cost (this work):</a:t>
            </a:r>
          </a:p>
          <a:p>
            <a:pPr lvl="1"/>
            <a:r>
              <a:rPr lang="en-US" dirty="0"/>
              <a:t>Develop </a:t>
            </a:r>
            <a:r>
              <a:rPr lang="en-US" dirty="0">
                <a:solidFill>
                  <a:srgbClr val="C00000"/>
                </a:solidFill>
              </a:rPr>
              <a:t>lower/upper bounds</a:t>
            </a:r>
            <a:r>
              <a:rPr lang="en-US" dirty="0"/>
              <a:t> of the true what-if cost (which is </a:t>
            </a:r>
            <a:r>
              <a:rPr lang="en-US" i="1" dirty="0">
                <a:solidFill>
                  <a:srgbClr val="C00000"/>
                </a:solidFill>
              </a:rPr>
              <a:t>unknown </a:t>
            </a:r>
            <a:r>
              <a:rPr lang="en-US" dirty="0"/>
              <a:t>without making the call).</a:t>
            </a:r>
          </a:p>
          <a:p>
            <a:pPr lvl="1"/>
            <a:r>
              <a:rPr lang="en-US" dirty="0"/>
              <a:t>Skip a what-if call if the </a:t>
            </a:r>
            <a:r>
              <a:rPr lang="en-US" dirty="0">
                <a:solidFill>
                  <a:srgbClr val="C00000"/>
                </a:solidFill>
              </a:rPr>
              <a:t>gap</a:t>
            </a:r>
            <a:r>
              <a:rPr lang="en-US" dirty="0"/>
              <a:t> between the lower and upper bounds is </a:t>
            </a:r>
            <a:r>
              <a:rPr lang="en-US" i="1" dirty="0">
                <a:solidFill>
                  <a:srgbClr val="C00000"/>
                </a:solidFill>
              </a:rPr>
              <a:t>small</a:t>
            </a:r>
            <a:r>
              <a:rPr lang="en-US" dirty="0"/>
              <a:t> </a:t>
            </a:r>
            <a:r>
              <a:rPr lang="en-US" i="1" dirty="0">
                <a:solidFill>
                  <a:srgbClr val="C00000"/>
                </a:solidFill>
              </a:rPr>
              <a:t>enough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5366F-930F-C56F-E6F5-6CA692B4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BDD045F-69BF-4B57-8EEA-5508235BA5BA}" type="slidenum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14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FADD9F-C598-B49F-CD1E-8A9889DC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06962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Wii: What-if (Call) Interception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5B806-70D5-2D1B-9363-26F5F7E8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BDD045F-69BF-4B57-8EEA-5508235BA5BA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7904E9-D1CD-71EC-7469-6DA647C7C185}"/>
              </a:ext>
            </a:extLst>
          </p:cNvPr>
          <p:cNvGrpSpPr/>
          <p:nvPr/>
        </p:nvGrpSpPr>
        <p:grpSpPr>
          <a:xfrm>
            <a:off x="9830567" y="1795453"/>
            <a:ext cx="2115851" cy="4271373"/>
            <a:chOff x="7512905" y="939456"/>
            <a:chExt cx="2115851" cy="427137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62FA1BF-4E47-1D65-8DF0-7638D92A13F1}"/>
                </a:ext>
              </a:extLst>
            </p:cNvPr>
            <p:cNvGrpSpPr/>
            <p:nvPr/>
          </p:nvGrpSpPr>
          <p:grpSpPr>
            <a:xfrm>
              <a:off x="7512905" y="939456"/>
              <a:ext cx="2115851" cy="4271373"/>
              <a:chOff x="5513836" y="1422061"/>
              <a:chExt cx="1746609" cy="2484877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32C2D264-661C-E321-6D66-18909697CEFA}"/>
                  </a:ext>
                </a:extLst>
              </p:cNvPr>
              <p:cNvSpPr/>
              <p:nvPr/>
            </p:nvSpPr>
            <p:spPr>
              <a:xfrm>
                <a:off x="5513836" y="1422061"/>
                <a:ext cx="1746609" cy="248487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56D0FD72-388C-C886-6D8C-B1AD16318855}"/>
                  </a:ext>
                </a:extLst>
              </p:cNvPr>
              <p:cNvSpPr/>
              <p:nvPr/>
            </p:nvSpPr>
            <p:spPr>
              <a:xfrm>
                <a:off x="5690741" y="2516994"/>
                <a:ext cx="1423525" cy="131281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>
                    <a:solidFill>
                      <a:schemeClr val="tx1"/>
                    </a:solidFill>
                  </a:rPr>
                  <a:t>Query Optimizer</a:t>
                </a:r>
              </a:p>
              <a:p>
                <a:pPr algn="ctr"/>
                <a:r>
                  <a:rPr lang="en-US" sz="2400">
                    <a:solidFill>
                      <a:schemeClr val="tx1"/>
                    </a:solidFill>
                  </a:rPr>
                  <a:t>(Extended)</a:t>
                </a: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CA5129B-8BE0-9DE9-21A9-1DE9170B27AB}"/>
                </a:ext>
              </a:extLst>
            </p:cNvPr>
            <p:cNvSpPr txBox="1"/>
            <p:nvPr/>
          </p:nvSpPr>
          <p:spPr>
            <a:xfrm>
              <a:off x="7877637" y="948758"/>
              <a:ext cx="13448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Database</a:t>
              </a:r>
            </a:p>
            <a:p>
              <a:r>
                <a:rPr lang="en-US" sz="2400"/>
                <a:t>Server</a:t>
              </a:r>
            </a:p>
          </p:txBody>
        </p:sp>
        <p:sp>
          <p:nvSpPr>
            <p:cNvPr id="38" name="Flowchart: Magnetic Disk 37">
              <a:extLst>
                <a:ext uri="{FF2B5EF4-FFF2-40B4-BE49-F238E27FC236}">
                  <a16:creationId xmlns:a16="http://schemas.microsoft.com/office/drawing/2014/main" id="{10388F71-7459-8BA3-A99D-4D52394FFB1C}"/>
                </a:ext>
              </a:extLst>
            </p:cNvPr>
            <p:cNvSpPr/>
            <p:nvPr/>
          </p:nvSpPr>
          <p:spPr>
            <a:xfrm>
              <a:off x="7999056" y="1892790"/>
              <a:ext cx="1101970" cy="718169"/>
            </a:xfrm>
            <a:prstGeom prst="flowChartMagneticDisk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3AAE7A6-475C-183B-F9AD-9C7536292292}"/>
              </a:ext>
            </a:extLst>
          </p:cNvPr>
          <p:cNvGrpSpPr/>
          <p:nvPr/>
        </p:nvGrpSpPr>
        <p:grpSpPr>
          <a:xfrm>
            <a:off x="137997" y="1795453"/>
            <a:ext cx="4876161" cy="4271375"/>
            <a:chOff x="1296654" y="939454"/>
            <a:chExt cx="4876161" cy="427137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D7C23E9-00C1-DAA9-3E3A-3D829A6C290A}"/>
                </a:ext>
              </a:extLst>
            </p:cNvPr>
            <p:cNvGrpSpPr/>
            <p:nvPr/>
          </p:nvGrpSpPr>
          <p:grpSpPr>
            <a:xfrm>
              <a:off x="2969555" y="939454"/>
              <a:ext cx="3203260" cy="4271375"/>
              <a:chOff x="1766569" y="1419156"/>
              <a:chExt cx="2545387" cy="2430149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F0CF023C-F26C-75A7-815A-7B1EF3E098E4}"/>
                  </a:ext>
                </a:extLst>
              </p:cNvPr>
              <p:cNvSpPr/>
              <p:nvPr/>
            </p:nvSpPr>
            <p:spPr>
              <a:xfrm>
                <a:off x="1766569" y="1419156"/>
                <a:ext cx="2545387" cy="2430149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3EE98E8-D373-8556-BA0D-59BD321375BE}"/>
                  </a:ext>
                </a:extLst>
              </p:cNvPr>
              <p:cNvGrpSpPr/>
              <p:nvPr/>
            </p:nvGrpSpPr>
            <p:grpSpPr>
              <a:xfrm>
                <a:off x="1892211" y="2334829"/>
                <a:ext cx="2289447" cy="1442625"/>
                <a:chOff x="1871665" y="2053460"/>
                <a:chExt cx="2289447" cy="1442625"/>
              </a:xfrm>
            </p:grpSpPr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63FB3649-191C-3067-6E11-3C02E0060712}"/>
                    </a:ext>
                  </a:extLst>
                </p:cNvPr>
                <p:cNvSpPr/>
                <p:nvPr/>
              </p:nvSpPr>
              <p:spPr>
                <a:xfrm>
                  <a:off x="1871665" y="2053460"/>
                  <a:ext cx="2289447" cy="447255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>
                      <a:solidFill>
                        <a:schemeClr val="tx1"/>
                      </a:solidFill>
                    </a:rPr>
                    <a:t>Candidate Index </a:t>
                  </a:r>
                </a:p>
                <a:p>
                  <a:pPr algn="ctr"/>
                  <a:r>
                    <a:rPr lang="en-US" sz="2400">
                      <a:solidFill>
                        <a:schemeClr val="tx1"/>
                      </a:solidFill>
                    </a:rPr>
                    <a:t>Generation</a:t>
                  </a:r>
                </a:p>
              </p:txBody>
            </p:sp>
            <p:sp>
              <p:nvSpPr>
                <p:cNvPr id="34" name="Arrow: Down 33">
                  <a:extLst>
                    <a:ext uri="{FF2B5EF4-FFF2-40B4-BE49-F238E27FC236}">
                      <a16:creationId xmlns:a16="http://schemas.microsoft.com/office/drawing/2014/main" id="{56269917-66C6-3C53-3B62-58D2C648E76D}"/>
                    </a:ext>
                  </a:extLst>
                </p:cNvPr>
                <p:cNvSpPr/>
                <p:nvPr/>
              </p:nvSpPr>
              <p:spPr>
                <a:xfrm>
                  <a:off x="2584791" y="2528958"/>
                  <a:ext cx="410966" cy="170593"/>
                </a:xfrm>
                <a:prstGeom prst="downArrow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1C6860C5-6FBA-8E16-409B-0005980B0106}"/>
                    </a:ext>
                  </a:extLst>
                </p:cNvPr>
                <p:cNvSpPr/>
                <p:nvPr/>
              </p:nvSpPr>
              <p:spPr>
                <a:xfrm>
                  <a:off x="1871665" y="2726701"/>
                  <a:ext cx="2289447" cy="769384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>
                      <a:solidFill>
                        <a:schemeClr val="tx1"/>
                      </a:solidFill>
                    </a:rPr>
                    <a:t>Configuration Enumeration </a:t>
                  </a: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B314721-603B-2A27-E123-563526E6F046}"/>
                  </a:ext>
                </a:extLst>
              </p:cNvPr>
              <p:cNvSpPr txBox="1"/>
              <p:nvPr/>
            </p:nvSpPr>
            <p:spPr>
              <a:xfrm>
                <a:off x="2353129" y="1419156"/>
                <a:ext cx="1392148" cy="262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Index Tuner</a:t>
                </a:r>
              </a:p>
            </p:txBody>
          </p:sp>
        </p:grp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9BADFA8B-0AE3-5E51-25FF-9EA4A95A553A}"/>
                </a:ext>
              </a:extLst>
            </p:cNvPr>
            <p:cNvSpPr/>
            <p:nvPr/>
          </p:nvSpPr>
          <p:spPr>
            <a:xfrm>
              <a:off x="1577515" y="1730039"/>
              <a:ext cx="1299878" cy="293000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6FE71F4-EB92-C211-9A41-DC86C7219923}"/>
                    </a:ext>
                  </a:extLst>
                </p:cNvPr>
                <p:cNvSpPr txBox="1"/>
                <p:nvPr/>
              </p:nvSpPr>
              <p:spPr>
                <a:xfrm>
                  <a:off x="1296654" y="1339323"/>
                  <a:ext cx="175195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en-US" sz="2000" i="1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6FE71F4-EB92-C211-9A41-DC86C72199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654" y="1339323"/>
                  <a:ext cx="1751958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57639124-7663-4A43-E55A-86E291675B26}"/>
                </a:ext>
              </a:extLst>
            </p:cNvPr>
            <p:cNvSpPr/>
            <p:nvPr/>
          </p:nvSpPr>
          <p:spPr>
            <a:xfrm rot="10800000">
              <a:off x="1577515" y="4625171"/>
              <a:ext cx="1299878" cy="325681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7AD634D-F7C7-3EE8-6E5A-761BB064131F}"/>
                    </a:ext>
                  </a:extLst>
                </p:cNvPr>
                <p:cNvSpPr txBox="1"/>
                <p:nvPr/>
              </p:nvSpPr>
              <p:spPr>
                <a:xfrm>
                  <a:off x="1405928" y="3895992"/>
                  <a:ext cx="1580581" cy="7325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/>
                    <a:t>Best</a:t>
                  </a:r>
                  <a:r>
                    <a:rPr lang="en-US" sz="2000" i="1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⊆{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sz="2000" i="1"/>
                    <a:t> </a:t>
                  </a:r>
                  <a:r>
                    <a:rPr lang="en-US" sz="2000" err="1"/>
                    <a:t>w.r.t.</a:t>
                  </a:r>
                  <a:r>
                    <a:rPr lang="en-US" sz="200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7AD634D-F7C7-3EE8-6E5A-761BB0641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5928" y="3895992"/>
                  <a:ext cx="1580581" cy="732573"/>
                </a:xfrm>
                <a:prstGeom prst="rect">
                  <a:avLst/>
                </a:prstGeom>
                <a:blipFill>
                  <a:blip r:embed="rId3"/>
                  <a:stretch>
                    <a:fillRect l="-4247" t="-4167" r="-1931" b="-1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8CE4E14-C04E-B2C4-830B-26391D426777}"/>
                    </a:ext>
                  </a:extLst>
                </p:cNvPr>
                <p:cNvSpPr txBox="1"/>
                <p:nvPr/>
              </p:nvSpPr>
              <p:spPr>
                <a:xfrm>
                  <a:off x="4567308" y="3310548"/>
                  <a:ext cx="1147390" cy="4461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000" i="1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8CE4E14-C04E-B2C4-830B-26391D426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7308" y="3310548"/>
                  <a:ext cx="1147390" cy="446148"/>
                </a:xfrm>
                <a:prstGeom prst="rect">
                  <a:avLst/>
                </a:prstGeom>
                <a:blipFill>
                  <a:blip r:embed="rId4"/>
                  <a:stretch>
                    <a:fillRect r="-23936" b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D8D5A62-13B9-65A2-992E-09DD4A6BECFE}"/>
                </a:ext>
              </a:extLst>
            </p:cNvPr>
            <p:cNvSpPr/>
            <p:nvPr/>
          </p:nvSpPr>
          <p:spPr>
            <a:xfrm>
              <a:off x="3086736" y="1426287"/>
              <a:ext cx="2881171" cy="731893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Workload Parsing/Analysis</a:t>
              </a:r>
            </a:p>
          </p:txBody>
        </p:sp>
        <p:sp>
          <p:nvSpPr>
            <p:cNvPr id="28" name="Arrow: Down 27">
              <a:extLst>
                <a:ext uri="{FF2B5EF4-FFF2-40B4-BE49-F238E27FC236}">
                  <a16:creationId xmlns:a16="http://schemas.microsoft.com/office/drawing/2014/main" id="{EC7041B9-52D8-51FA-7D49-F953E63D8407}"/>
                </a:ext>
              </a:extLst>
            </p:cNvPr>
            <p:cNvSpPr/>
            <p:nvPr/>
          </p:nvSpPr>
          <p:spPr>
            <a:xfrm>
              <a:off x="4025108" y="2197700"/>
              <a:ext cx="517183" cy="29984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7F01932-3898-80DB-9D31-2BC88EB8C795}"/>
                    </a:ext>
                  </a:extLst>
                </p:cNvPr>
                <p:cNvSpPr txBox="1"/>
                <p:nvPr/>
              </p:nvSpPr>
              <p:spPr>
                <a:xfrm>
                  <a:off x="4510693" y="2147567"/>
                  <a:ext cx="114739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000" i="1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7F01932-3898-80DB-9D31-2BC88EB8C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693" y="2147567"/>
                  <a:ext cx="114739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120F990-8F13-FBBC-14F3-29AF3A25D0D2}"/>
              </a:ext>
            </a:extLst>
          </p:cNvPr>
          <p:cNvGrpSpPr/>
          <p:nvPr/>
        </p:nvGrpSpPr>
        <p:grpSpPr>
          <a:xfrm>
            <a:off x="4891477" y="2813525"/>
            <a:ext cx="4798710" cy="3239413"/>
            <a:chOff x="4834038" y="2271550"/>
            <a:chExt cx="4798710" cy="32394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50B7F81-D559-2913-A4DE-EC8C6746997E}"/>
                    </a:ext>
                  </a:extLst>
                </p:cNvPr>
                <p:cNvSpPr txBox="1"/>
                <p:nvPr/>
              </p:nvSpPr>
              <p:spPr>
                <a:xfrm>
                  <a:off x="6880738" y="4803077"/>
                  <a:ext cx="1573531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0" dirty="0"/>
                    <a:t>What-if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50B7F81-D559-2913-A4DE-EC8C674699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0738" y="4803077"/>
                  <a:ext cx="1573531" cy="707886"/>
                </a:xfrm>
                <a:prstGeom prst="rect">
                  <a:avLst/>
                </a:prstGeom>
                <a:blipFill>
                  <a:blip r:embed="rId6"/>
                  <a:stretch>
                    <a:fillRect t="-5172" b="-77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A695BE5-2520-7A13-7C43-08FA4C604321}"/>
                    </a:ext>
                  </a:extLst>
                </p:cNvPr>
                <p:cNvSpPr txBox="1"/>
                <p:nvPr/>
              </p:nvSpPr>
              <p:spPr>
                <a:xfrm rot="19195863">
                  <a:off x="4886524" y="3490095"/>
                  <a:ext cx="13594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A695BE5-2520-7A13-7C43-08FA4C604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95863">
                  <a:off x="4886524" y="3490095"/>
                  <a:ext cx="1359400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8F63954-DEB0-1C20-98CF-54C7DC9E41BB}"/>
                </a:ext>
              </a:extLst>
            </p:cNvPr>
            <p:cNvSpPr/>
            <p:nvPr/>
          </p:nvSpPr>
          <p:spPr>
            <a:xfrm>
              <a:off x="6451078" y="2271550"/>
              <a:ext cx="2007983" cy="942508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accent2">
                      <a:lumMod val="75000"/>
                    </a:schemeClr>
                  </a:solidFill>
                </a:rPr>
                <a:t>Wii</a:t>
              </a:r>
              <a:r>
                <a:rPr lang="en-US" sz="2400">
                  <a:solidFill>
                    <a:schemeClr val="tx1"/>
                  </a:solidFill>
                </a:rPr>
                <a:t> (What-if interception)</a:t>
              </a:r>
            </a:p>
          </p:txBody>
        </p:sp>
        <p:sp>
          <p:nvSpPr>
            <p:cNvPr id="14" name="Arrow: Left-Right 13">
              <a:extLst>
                <a:ext uri="{FF2B5EF4-FFF2-40B4-BE49-F238E27FC236}">
                  <a16:creationId xmlns:a16="http://schemas.microsoft.com/office/drawing/2014/main" id="{8AF4244D-ACB1-E87D-CE0D-BBC9A47998ED}"/>
                </a:ext>
              </a:extLst>
            </p:cNvPr>
            <p:cNvSpPr/>
            <p:nvPr/>
          </p:nvSpPr>
          <p:spPr>
            <a:xfrm rot="19120204">
              <a:off x="4834038" y="3839038"/>
              <a:ext cx="1861306" cy="178066"/>
            </a:xfrm>
            <a:prstGeom prst="leftRightArrow">
              <a:avLst/>
            </a:prstGeom>
            <a:solidFill>
              <a:srgbClr val="FF99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4D96F5-4E50-B04E-01BF-1F9FF31F22D4}"/>
                    </a:ext>
                  </a:extLst>
                </p:cNvPr>
                <p:cNvSpPr txBox="1"/>
                <p:nvPr/>
              </p:nvSpPr>
              <p:spPr>
                <a:xfrm rot="19135200">
                  <a:off x="5365568" y="3804023"/>
                  <a:ext cx="1633397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0"/>
                    <a:t>Derived cost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4D96F5-4E50-B04E-01BF-1F9FF31F22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35200">
                  <a:off x="5365568" y="3804023"/>
                  <a:ext cx="1633397" cy="707886"/>
                </a:xfrm>
                <a:prstGeom prst="rect">
                  <a:avLst/>
                </a:prstGeom>
                <a:blipFill>
                  <a:blip r:embed="rId8"/>
                  <a:stretch>
                    <a:fillRect l="-39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1AABAEC-CA8E-1A45-0562-3F5DAD6B3B4A}"/>
                    </a:ext>
                  </a:extLst>
                </p:cNvPr>
                <p:cNvSpPr txBox="1"/>
                <p:nvPr/>
              </p:nvSpPr>
              <p:spPr>
                <a:xfrm rot="2811302">
                  <a:off x="8590964" y="3464257"/>
                  <a:ext cx="1359400" cy="3647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1AABAEC-CA8E-1A45-0562-3F5DAD6B3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811302">
                  <a:off x="8590964" y="3464257"/>
                  <a:ext cx="1359400" cy="36476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0AB6E329-0515-D80B-B75D-35D6CE8124A2}"/>
                </a:ext>
              </a:extLst>
            </p:cNvPr>
            <p:cNvSpPr/>
            <p:nvPr/>
          </p:nvSpPr>
          <p:spPr>
            <a:xfrm rot="2869592">
              <a:off x="8259854" y="3806459"/>
              <a:ext cx="1568744" cy="167084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36B604D1-FDF2-9E7F-8F41-48BDC6E5BD46}"/>
                </a:ext>
              </a:extLst>
            </p:cNvPr>
            <p:cNvSpPr/>
            <p:nvPr/>
          </p:nvSpPr>
          <p:spPr>
            <a:xfrm rot="10800000">
              <a:off x="5097095" y="4630692"/>
              <a:ext cx="4535653" cy="172384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93762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2D8D4-2FF5-C310-99BA-5DBB445B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57" y="717894"/>
            <a:ext cx="3020757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Applications of Wii in Index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7090-35BB-1763-A420-646948F11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972" y="645836"/>
            <a:ext cx="8130798" cy="5546047"/>
          </a:xfrm>
        </p:spPr>
        <p:txBody>
          <a:bodyPr anchor="ctr">
            <a:normAutofit/>
          </a:bodyPr>
          <a:lstStyle/>
          <a:p>
            <a:r>
              <a:rPr lang="en-US" dirty="0"/>
              <a:t>Budget-aware Index Tuning (SIGMOD’22)</a:t>
            </a:r>
          </a:p>
          <a:p>
            <a:pPr lvl="1"/>
            <a:r>
              <a:rPr lang="en-US" dirty="0"/>
              <a:t>A budget on the number of what-if calls is given.</a:t>
            </a:r>
          </a:p>
          <a:p>
            <a:pPr lvl="1"/>
            <a:r>
              <a:rPr lang="en-US" b="1" u="sng" dirty="0"/>
              <a:t>Examples:</a:t>
            </a:r>
            <a:r>
              <a:rPr lang="en-US" dirty="0"/>
              <a:t> Greedy search, Monte Carlo tree search (MCTS)</a:t>
            </a:r>
          </a:p>
          <a:p>
            <a:pPr lvl="1"/>
            <a:r>
              <a:rPr lang="en-US" dirty="0"/>
              <a:t>Wii can save on inessential what-if calls and </a:t>
            </a:r>
            <a:r>
              <a:rPr lang="en-US" dirty="0">
                <a:solidFill>
                  <a:srgbClr val="C00000"/>
                </a:solidFill>
              </a:rPr>
              <a:t>reallocate</a:t>
            </a:r>
            <a:r>
              <a:rPr lang="en-US" dirty="0"/>
              <a:t> budget to what-if calls that Wii </a:t>
            </a:r>
            <a:r>
              <a:rPr lang="en-US" dirty="0">
                <a:solidFill>
                  <a:srgbClr val="C00000"/>
                </a:solidFill>
              </a:rPr>
              <a:t>cannot skip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Budget reallocation can </a:t>
            </a:r>
            <a:r>
              <a:rPr lang="en-US" dirty="0">
                <a:solidFill>
                  <a:srgbClr val="C00000"/>
                </a:solidFill>
              </a:rPr>
              <a:t>find better index configuration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dirty="0"/>
              <a:t>Index Tuning with Unlimited Budget (traditional)</a:t>
            </a:r>
          </a:p>
          <a:p>
            <a:pPr lvl="1"/>
            <a:r>
              <a:rPr lang="en-US" sz="2600" dirty="0"/>
              <a:t>Wii cannot help improve the configuration found.</a:t>
            </a:r>
          </a:p>
          <a:p>
            <a:pPr lvl="2"/>
            <a:r>
              <a:rPr lang="en-US" sz="2200" dirty="0"/>
              <a:t>The best configuration can be found by </a:t>
            </a:r>
            <a:r>
              <a:rPr lang="en-US" sz="2200" dirty="0">
                <a:solidFill>
                  <a:srgbClr val="C00000"/>
                </a:solidFill>
              </a:rPr>
              <a:t>always</a:t>
            </a:r>
            <a:r>
              <a:rPr lang="en-US" sz="2200" dirty="0"/>
              <a:t> making what-if calls given that budget is unlimited.</a:t>
            </a:r>
          </a:p>
          <a:p>
            <a:pPr lvl="1"/>
            <a:r>
              <a:rPr lang="en-US" sz="2600" dirty="0"/>
              <a:t>Instead, Wii can </a:t>
            </a:r>
            <a:r>
              <a:rPr lang="en-US" sz="2600" dirty="0">
                <a:solidFill>
                  <a:srgbClr val="C00000"/>
                </a:solidFill>
              </a:rPr>
              <a:t>reduce overall index tuning time</a:t>
            </a:r>
            <a:r>
              <a:rPr lang="en-US" sz="2600" dirty="0"/>
              <a:t> by avoiding making inessential what-if calls.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A6B81-6ED1-4862-2215-606DF9CD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BDD045F-69BF-4B57-8EEA-5508235BA5BA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96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oup 28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30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2AAE53-89EF-3667-5199-6800E277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 of Technical Contributions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0AED6-024E-F0B9-8F9F-8BBFC6CE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01D2F-D807-7E8D-4423-889B60CC56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158" y="1790238"/>
                <a:ext cx="11184253" cy="4339494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sz="3000" dirty="0"/>
                  <a:t>Developed a </a:t>
                </a:r>
                <a:r>
                  <a:rPr lang="en-US" sz="3000" i="1" dirty="0">
                    <a:solidFill>
                      <a:srgbClr val="C00000"/>
                    </a:solidFill>
                  </a:rPr>
                  <a:t>lower bound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30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3000" dirty="0"/>
                  <a:t> and an </a:t>
                </a:r>
                <a:r>
                  <a:rPr lang="en-US" sz="3000" i="1" dirty="0">
                    <a:solidFill>
                      <a:srgbClr val="C00000"/>
                    </a:solidFill>
                  </a:rPr>
                  <a:t>upper bound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3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3000" dirty="0"/>
                  <a:t> of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3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3000" dirty="0"/>
                  <a:t>.</a:t>
                </a:r>
              </a:p>
              <a:p>
                <a:pPr lvl="1"/>
                <a:r>
                  <a:rPr lang="en-US" sz="2600" dirty="0"/>
                  <a:t>The upper bound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6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600" dirty="0"/>
                  <a:t>.</a:t>
                </a:r>
              </a:p>
              <a:p>
                <a:pPr lvl="1"/>
                <a:r>
                  <a:rPr lang="en-US" sz="2600" dirty="0"/>
                  <a:t>The lower bound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6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𝑜𝑠𝑡</m:t>
                    </m:r>
                    <m:d>
                      <m:dPr>
                        <m:ctrlP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,∅</m:t>
                        </m:r>
                      </m:e>
                    </m:d>
                    <m:r>
                      <a:rPr lang="en-US" sz="2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6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.</a:t>
                </a:r>
              </a:p>
              <a:p>
                <a:pPr lvl="2"/>
                <a:r>
                  <a:rPr lang="en-US" sz="2200" dirty="0"/>
                  <a:t>Intuition: Lower bound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200" dirty="0"/>
                  <a:t> means the </a:t>
                </a:r>
                <a:r>
                  <a:rPr lang="en-US" sz="2200" i="1" dirty="0">
                    <a:solidFill>
                      <a:srgbClr val="C00000"/>
                    </a:solidFill>
                  </a:rPr>
                  <a:t>maximum possible improvement</a:t>
                </a:r>
                <a:r>
                  <a:rPr lang="en-US" sz="2200" i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lvl="2"/>
                <a:r>
                  <a:rPr lang="en-US" sz="2200" dirty="0"/>
                  <a:t>Assuming </a:t>
                </a:r>
                <a:r>
                  <a:rPr lang="en-US" sz="2200" i="1" dirty="0" err="1">
                    <a:solidFill>
                      <a:srgbClr val="C00000"/>
                    </a:solidFill>
                  </a:rPr>
                  <a:t>submodularity</a:t>
                </a:r>
                <a:r>
                  <a:rPr lang="en-US" sz="2200" dirty="0"/>
                  <a:t> of the cost function,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/>
                      <m:e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pPr lvl="2"/>
                <a:endParaRPr lang="en-US" dirty="0"/>
              </a:p>
              <a:p>
                <a:r>
                  <a:rPr lang="en-US" sz="3000" dirty="0"/>
                  <a:t>Developed a </a:t>
                </a:r>
                <a:r>
                  <a:rPr lang="en-US" sz="3000" i="1" dirty="0">
                    <a:solidFill>
                      <a:srgbClr val="C00000"/>
                    </a:solidFill>
                  </a:rPr>
                  <a:t>confidence-based mechanism </a:t>
                </a:r>
                <a:r>
                  <a:rPr lang="en-US" sz="3000" dirty="0"/>
                  <a:t>to skip a what-if call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3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3000" dirty="0"/>
                  <a:t>.</a:t>
                </a:r>
              </a:p>
              <a:p>
                <a:pPr lvl="1"/>
                <a:r>
                  <a:rPr lang="en-US" sz="2600" dirty="0"/>
                  <a:t>Define the </a:t>
                </a:r>
                <a:r>
                  <a:rPr lang="en-US" sz="2600" i="1" dirty="0">
                    <a:solidFill>
                      <a:srgbClr val="C00000"/>
                    </a:solidFill>
                  </a:rPr>
                  <a:t>confidence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600" dirty="0"/>
                  <a:t>.</a:t>
                </a:r>
              </a:p>
              <a:p>
                <a:pPr lvl="1"/>
                <a:r>
                  <a:rPr lang="en-US" sz="2600" dirty="0"/>
                  <a:t>Skip the what-if call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if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600" dirty="0"/>
                  <a:t>, where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600" dirty="0"/>
                  <a:t> is some </a:t>
                </a:r>
                <a:r>
                  <a:rPr lang="en-US" sz="2600" i="1" dirty="0">
                    <a:solidFill>
                      <a:srgbClr val="C00000"/>
                    </a:solidFill>
                  </a:rPr>
                  <a:t>threshold</a:t>
                </a:r>
                <a:r>
                  <a:rPr lang="en-US" sz="2600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sz="3000" dirty="0"/>
                  <a:t>Developed a </a:t>
                </a:r>
                <a:r>
                  <a:rPr lang="en-US" sz="3000" i="1" dirty="0">
                    <a:solidFill>
                      <a:srgbClr val="C00000"/>
                    </a:solidFill>
                  </a:rPr>
                  <a:t>coverage-based refinement </a:t>
                </a:r>
                <a:r>
                  <a:rPr lang="en-US" sz="3000" dirty="0"/>
                  <a:t>of the lower bound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30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3000" dirty="0"/>
                  <a:t>.</a:t>
                </a:r>
              </a:p>
              <a:p>
                <a:pPr lvl="1"/>
                <a:r>
                  <a:rPr lang="en-US" sz="2600" dirty="0"/>
                  <a:t>See the paper for the details.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001D2F-D807-7E8D-4423-889B60CC5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158" y="1790238"/>
                <a:ext cx="11184253" cy="4339494"/>
              </a:xfrm>
              <a:blipFill>
                <a:blip r:embed="rId3"/>
                <a:stretch>
                  <a:fillRect l="-817" t="-2949" b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55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BC6C9-CAAD-C350-914E-BE30EA92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363" y="302588"/>
            <a:ext cx="10140318" cy="1033669"/>
          </a:xfrm>
        </p:spPr>
        <p:txBody>
          <a:bodyPr>
            <a:normAutofit fontScale="90000"/>
          </a:bodyPr>
          <a:lstStyle/>
          <a:p>
            <a:r>
              <a:rPr lang="en-US" sz="4000" b="1" u="sng">
                <a:solidFill>
                  <a:srgbClr val="FFFFFF"/>
                </a:solidFill>
              </a:rPr>
              <a:t>Evaluation:</a:t>
            </a:r>
            <a:r>
              <a:rPr lang="en-US" sz="4000">
                <a:solidFill>
                  <a:srgbClr val="FFFFFF"/>
                </a:solidFill>
              </a:rPr>
              <a:t> Budget-aware Index Tuning (Index</a:t>
            </a:r>
            <a:r>
              <a:rPr lang="zh-CN" altLang="en-US" sz="4000">
                <a:solidFill>
                  <a:srgbClr val="FFFFFF"/>
                </a:solidFill>
              </a:rPr>
              <a:t> </a:t>
            </a:r>
            <a:r>
              <a:rPr lang="en-US" altLang="zh-CN" sz="4000">
                <a:solidFill>
                  <a:srgbClr val="FFFFFF"/>
                </a:solidFill>
              </a:rPr>
              <a:t>Quality)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70DB0-906B-C6BB-77BA-D4EBF676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BDD045F-69BF-4B57-8EEA-5508235BA5BA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C0B443-F076-0279-8AAA-F43576C63249}"/>
              </a:ext>
            </a:extLst>
          </p:cNvPr>
          <p:cNvGrpSpPr/>
          <p:nvPr/>
        </p:nvGrpSpPr>
        <p:grpSpPr>
          <a:xfrm>
            <a:off x="200165" y="1622745"/>
            <a:ext cx="11791666" cy="4940717"/>
            <a:chOff x="200165" y="1622745"/>
            <a:chExt cx="11791666" cy="49407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EB9A0ED-7562-FFD2-8D70-CD9F51549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1599" y="1622745"/>
              <a:ext cx="9726656" cy="1646049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026211A-5454-9E7D-EA2F-BB76F3726139}"/>
                </a:ext>
              </a:extLst>
            </p:cNvPr>
            <p:cNvGrpSpPr/>
            <p:nvPr/>
          </p:nvGrpSpPr>
          <p:grpSpPr>
            <a:xfrm>
              <a:off x="200165" y="3961268"/>
              <a:ext cx="11791666" cy="2602194"/>
              <a:chOff x="135610" y="3696956"/>
              <a:chExt cx="11791666" cy="260219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BEDB9D33-D699-88DB-BA21-B4CCB34DD7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610" y="3696956"/>
                <a:ext cx="11791666" cy="2027246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DE179D-113C-6585-CC4F-70E6655CED22}"/>
                  </a:ext>
                </a:extLst>
              </p:cNvPr>
              <p:cNvSpPr txBox="1"/>
              <p:nvPr/>
            </p:nvSpPr>
            <p:spPr>
              <a:xfrm>
                <a:off x="1072808" y="5837485"/>
                <a:ext cx="1462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(a) TPC-H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0B533E-83E4-7E80-B088-BB635A35DDB7}"/>
                  </a:ext>
                </a:extLst>
              </p:cNvPr>
              <p:cNvSpPr txBox="1"/>
              <p:nvPr/>
            </p:nvSpPr>
            <p:spPr>
              <a:xfrm>
                <a:off x="3946968" y="5837485"/>
                <a:ext cx="1653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(b) TPC-DS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3224A3-7146-EDBC-5F47-1845B4F5AF2D}"/>
                  </a:ext>
                </a:extLst>
              </p:cNvPr>
              <p:cNvSpPr txBox="1"/>
              <p:nvPr/>
            </p:nvSpPr>
            <p:spPr>
              <a:xfrm>
                <a:off x="7012833" y="5829435"/>
                <a:ext cx="14620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(c) Real-D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7D5CF9-5968-FE21-C0CC-A926CA20C0BD}"/>
                  </a:ext>
                </a:extLst>
              </p:cNvPr>
              <p:cNvSpPr txBox="1"/>
              <p:nvPr/>
            </p:nvSpPr>
            <p:spPr>
              <a:xfrm>
                <a:off x="9886993" y="5824968"/>
                <a:ext cx="15603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(d) Real-M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6D693C4-08B1-5B52-D023-5BE8E08739E4}"/>
                    </a:ext>
                  </a:extLst>
                </p:cNvPr>
                <p:cNvSpPr txBox="1"/>
                <p:nvPr/>
              </p:nvSpPr>
              <p:spPr>
                <a:xfrm>
                  <a:off x="365020" y="3369560"/>
                  <a:ext cx="1146195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u="sng" dirty="0"/>
                    <a:t>Set-up:</a:t>
                  </a:r>
                  <a:r>
                    <a:rPr lang="en-US" sz="2400" dirty="0"/>
                    <a:t> </a:t>
                  </a:r>
                  <a:r>
                    <a:rPr lang="en-US" sz="2400" i="1" u="sng" dirty="0"/>
                    <a:t>Greedy search</a:t>
                  </a:r>
                  <a:r>
                    <a:rPr lang="en-US" sz="2400" dirty="0"/>
                    <a:t>, with # of indexes allowed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a14:m>
                  <a:r>
                    <a:rPr lang="en-US" sz="2400" dirty="0"/>
                    <a:t> and confidence threshold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6D693C4-08B1-5B52-D023-5BE8E0873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020" y="3369560"/>
                  <a:ext cx="1146195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851" t="-10667" r="-106" b="-3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87796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BC6C9-CAAD-C350-914E-BE30EA92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98" y="273696"/>
            <a:ext cx="11501799" cy="1033669"/>
          </a:xfrm>
        </p:spPr>
        <p:txBody>
          <a:bodyPr>
            <a:normAutofit fontScale="90000"/>
          </a:bodyPr>
          <a:lstStyle/>
          <a:p>
            <a:r>
              <a:rPr lang="en-US" sz="4000" b="1" u="sng">
                <a:solidFill>
                  <a:srgbClr val="FFFFFF"/>
                </a:solidFill>
              </a:rPr>
              <a:t>Evaluation:</a:t>
            </a:r>
            <a:r>
              <a:rPr lang="en-US" sz="4000">
                <a:solidFill>
                  <a:srgbClr val="FFFFFF"/>
                </a:solidFill>
              </a:rPr>
              <a:t> Budget-aware Index Tuning (vs. Random Skipping</a:t>
            </a:r>
            <a:r>
              <a:rPr lang="en-US" altLang="zh-CN" sz="4000">
                <a:solidFill>
                  <a:srgbClr val="FFFFFF"/>
                </a:solidFill>
              </a:rPr>
              <a:t>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70DB0-906B-C6BB-77BA-D4EBF676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1E1031-D92B-275F-2145-A908126F6BB3}"/>
                  </a:ext>
                </a:extLst>
              </p:cNvPr>
              <p:cNvSpPr txBox="1"/>
              <p:nvPr/>
            </p:nvSpPr>
            <p:spPr>
              <a:xfrm>
                <a:off x="673414" y="1778196"/>
                <a:ext cx="1103090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/>
                  <a:t>Set-up:</a:t>
                </a:r>
                <a:r>
                  <a:rPr lang="en-US" sz="2400" dirty="0"/>
                  <a:t> # of indexes allowed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sz="2400" dirty="0"/>
                  <a:t>, confidence threshold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n-US" sz="2400" dirty="0"/>
                  <a:t>, random skipping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n-US" sz="2400" dirty="0"/>
                  <a:t> (using the same skipping probability for fair comparison)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1E1031-D92B-275F-2145-A908126F6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14" y="1778196"/>
                <a:ext cx="11030906" cy="830997"/>
              </a:xfrm>
              <a:prstGeom prst="rect">
                <a:avLst/>
              </a:prstGeom>
              <a:blipFill>
                <a:blip r:embed="rId3"/>
                <a:stretch>
                  <a:fillRect l="-829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5EAA732D-4B45-C3F1-80D8-D09A40337B81}"/>
              </a:ext>
            </a:extLst>
          </p:cNvPr>
          <p:cNvGrpSpPr/>
          <p:nvPr/>
        </p:nvGrpSpPr>
        <p:grpSpPr>
          <a:xfrm>
            <a:off x="160645" y="2814066"/>
            <a:ext cx="11870699" cy="1919530"/>
            <a:chOff x="0" y="2314565"/>
            <a:chExt cx="12192000" cy="212840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76C92F6-2007-F9D6-9F84-5E7678F82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314565"/>
              <a:ext cx="12192000" cy="170517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32DB304-626A-F2D0-C0EA-6C08D6B8D890}"/>
                </a:ext>
              </a:extLst>
            </p:cNvPr>
            <p:cNvSpPr txBox="1"/>
            <p:nvPr/>
          </p:nvSpPr>
          <p:spPr>
            <a:xfrm>
              <a:off x="529979" y="4042859"/>
              <a:ext cx="2246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(a) TPC-H,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B=1,000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E8D60D3-1B53-8A91-51E0-7EEB7B524CBD}"/>
                </a:ext>
              </a:extLst>
            </p:cNvPr>
            <p:cNvSpPr txBox="1"/>
            <p:nvPr/>
          </p:nvSpPr>
          <p:spPr>
            <a:xfrm>
              <a:off x="3535299" y="4034144"/>
              <a:ext cx="24362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(b) TPC-DS,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B4DBC9-847E-08C7-03E4-ADD18BC71BE0}"/>
                </a:ext>
              </a:extLst>
            </p:cNvPr>
            <p:cNvSpPr txBox="1"/>
            <p:nvPr/>
          </p:nvSpPr>
          <p:spPr>
            <a:xfrm>
              <a:off x="6730708" y="4019740"/>
              <a:ext cx="23487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(c) Real-D,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F49CC92-FC12-DF47-93CB-3613463C3FE6}"/>
                </a:ext>
              </a:extLst>
            </p:cNvPr>
            <p:cNvSpPr txBox="1"/>
            <p:nvPr/>
          </p:nvSpPr>
          <p:spPr>
            <a:xfrm>
              <a:off x="9641302" y="4042859"/>
              <a:ext cx="2348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(d) Real-M,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2FB4E16-8527-8284-C5AA-C485B64DE7B8}"/>
              </a:ext>
            </a:extLst>
          </p:cNvPr>
          <p:cNvSpPr txBox="1"/>
          <p:nvPr/>
        </p:nvSpPr>
        <p:spPr>
          <a:xfrm>
            <a:off x="912284" y="5009029"/>
            <a:ext cx="10694468" cy="83099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/>
              <a:t>Remark:</a:t>
            </a:r>
            <a:r>
              <a:rPr lang="en-US" sz="2400"/>
              <a:t> The </a:t>
            </a:r>
            <a:r>
              <a:rPr lang="en-US" sz="2400">
                <a:solidFill>
                  <a:srgbClr val="C00000"/>
                </a:solidFill>
              </a:rPr>
              <a:t>additional computation overhead</a:t>
            </a:r>
            <a:r>
              <a:rPr lang="en-US" sz="2400"/>
              <a:t> introduced by Wii, while is higher than random skipping, remains </a:t>
            </a:r>
            <a:r>
              <a:rPr lang="en-US" sz="2400">
                <a:solidFill>
                  <a:srgbClr val="C00000"/>
                </a:solidFill>
              </a:rPr>
              <a:t>negligible</a:t>
            </a:r>
            <a:r>
              <a:rPr lang="en-US" sz="2400"/>
              <a:t> compared to the overall index tuning time.</a:t>
            </a:r>
          </a:p>
        </p:txBody>
      </p:sp>
    </p:spTree>
    <p:extLst>
      <p:ext uri="{BB962C8B-B14F-4D97-AF65-F5344CB8AC3E}">
        <p14:creationId xmlns:p14="http://schemas.microsoft.com/office/powerpoint/2010/main" val="779288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19DB6-4763-8FE6-AB45-AA96C7E9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700" b="1" u="sng" dirty="0">
                <a:solidFill>
                  <a:srgbClr val="FFFFFF"/>
                </a:solidFill>
              </a:rPr>
              <a:t>Evaluation:</a:t>
            </a:r>
            <a:r>
              <a:rPr lang="en-US" sz="3700" dirty="0">
                <a:solidFill>
                  <a:srgbClr val="FFFFFF"/>
                </a:solidFill>
              </a:rPr>
              <a:t> Index Tuning with </a:t>
            </a:r>
            <a:r>
              <a:rPr lang="en-US" sz="3700" dirty="0">
                <a:solidFill>
                  <a:schemeClr val="bg1"/>
                </a:solidFill>
              </a:rPr>
              <a:t>Unlimited</a:t>
            </a:r>
            <a:r>
              <a:rPr lang="en-US" sz="3700" dirty="0">
                <a:solidFill>
                  <a:srgbClr val="FFFFFF"/>
                </a:solidFill>
              </a:rPr>
              <a:t> Budget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A66C3-1B69-2196-87FB-04E93666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BDD045F-69BF-4B57-8EEA-5508235BA5BA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601F5-A80F-9686-B550-CA7C4D29D0F6}"/>
              </a:ext>
            </a:extLst>
          </p:cNvPr>
          <p:cNvSpPr txBox="1"/>
          <p:nvPr/>
        </p:nvSpPr>
        <p:spPr>
          <a:xfrm>
            <a:off x="153274" y="1665020"/>
            <a:ext cx="11601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Wii </a:t>
            </a:r>
            <a:r>
              <a:rPr lang="en-US" sz="2400" dirty="0">
                <a:solidFill>
                  <a:srgbClr val="C00000"/>
                </a:solidFill>
              </a:rPr>
              <a:t>cannot further improve the index quality </a:t>
            </a:r>
            <a:r>
              <a:rPr lang="en-US" sz="2400" dirty="0"/>
              <a:t>achieved by </a:t>
            </a:r>
            <a:r>
              <a:rPr lang="en-US" sz="2400" i="1" u="sng" dirty="0"/>
              <a:t>always making what-if calls</a:t>
            </a:r>
            <a:r>
              <a:rPr lang="en-US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However, Wii </a:t>
            </a:r>
            <a:r>
              <a:rPr lang="en-US" sz="2400" dirty="0">
                <a:solidFill>
                  <a:srgbClr val="00B050"/>
                </a:solidFill>
              </a:rPr>
              <a:t>can significantly reduce tuning time</a:t>
            </a:r>
            <a:r>
              <a:rPr lang="en-US" sz="2400" dirty="0"/>
              <a:t> by skipping inessential what-if calls.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550099-0D71-ACFF-A263-E0A30D2CFCA8}"/>
              </a:ext>
            </a:extLst>
          </p:cNvPr>
          <p:cNvGrpSpPr/>
          <p:nvPr/>
        </p:nvGrpSpPr>
        <p:grpSpPr>
          <a:xfrm>
            <a:off x="2350887" y="2563605"/>
            <a:ext cx="7074265" cy="3803671"/>
            <a:chOff x="2318183" y="2759791"/>
            <a:chExt cx="7074265" cy="380367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B838A99-E46B-9574-79F0-A679379CF586}"/>
                </a:ext>
              </a:extLst>
            </p:cNvPr>
            <p:cNvGrpSpPr/>
            <p:nvPr/>
          </p:nvGrpSpPr>
          <p:grpSpPr>
            <a:xfrm>
              <a:off x="2318183" y="2759791"/>
              <a:ext cx="7074264" cy="1839102"/>
              <a:chOff x="1852813" y="4683178"/>
              <a:chExt cx="7074264" cy="1839102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354AE84-3AA5-E83D-94B3-34CB1C0AA9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52813" y="4683178"/>
                <a:ext cx="7074264" cy="1759040"/>
              </a:xfrm>
              <a:prstGeom prst="rect">
                <a:avLst/>
              </a:prstGeom>
            </p:spPr>
          </p:pic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B35CBB5-4578-E94A-FA9A-EA6D354A5B0F}"/>
                  </a:ext>
                </a:extLst>
              </p:cNvPr>
              <p:cNvSpPr/>
              <p:nvPr/>
            </p:nvSpPr>
            <p:spPr>
              <a:xfrm>
                <a:off x="5845215" y="4942701"/>
                <a:ext cx="1203767" cy="1579579"/>
              </a:xfrm>
              <a:prstGeom prst="roundRect">
                <a:avLst/>
              </a:prstGeom>
              <a:noFill/>
              <a:ln w="254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FC8887F-45F3-9EAD-F2F8-F372E1051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18184" y="4706801"/>
              <a:ext cx="7074264" cy="1760080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B0A82FB-D437-1D9B-EB66-37BC87F6CFF2}"/>
                </a:ext>
              </a:extLst>
            </p:cNvPr>
            <p:cNvSpPr/>
            <p:nvPr/>
          </p:nvSpPr>
          <p:spPr>
            <a:xfrm>
              <a:off x="6339432" y="4983883"/>
              <a:ext cx="1203767" cy="1579579"/>
            </a:xfrm>
            <a:prstGeom prst="roundRect">
              <a:avLst/>
            </a:prstGeom>
            <a:noFill/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3656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6B00E-54A0-4917-9D4C-E6D8E642F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A5509-5C1F-AA06-452A-5D7883AD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BDD045F-69BF-4B57-8EEA-5508235BA5BA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F1C8EB7-BDE9-63BC-F42A-7953820DA834}"/>
              </a:ext>
            </a:extLst>
          </p:cNvPr>
          <p:cNvSpPr txBox="1">
            <a:spLocks/>
          </p:cNvSpPr>
          <p:nvPr/>
        </p:nvSpPr>
        <p:spPr>
          <a:xfrm>
            <a:off x="4463790" y="511388"/>
            <a:ext cx="724053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We developed Wii, a </a:t>
            </a:r>
            <a:r>
              <a:rPr lang="en-US" sz="2400" dirty="0">
                <a:solidFill>
                  <a:srgbClr val="C00000"/>
                </a:solidFill>
              </a:rPr>
              <a:t>lightweight</a:t>
            </a:r>
            <a:r>
              <a:rPr lang="en-US" sz="2400" dirty="0"/>
              <a:t> what-if (call) interception mechanism that allows for </a:t>
            </a:r>
            <a:r>
              <a:rPr lang="en-US" sz="2400" dirty="0">
                <a:solidFill>
                  <a:srgbClr val="C00000"/>
                </a:solidFill>
              </a:rPr>
              <a:t>skipping</a:t>
            </a:r>
            <a:r>
              <a:rPr lang="en-US" sz="2400" dirty="0"/>
              <a:t> inessential what-if calls in index tuning.</a:t>
            </a:r>
          </a:p>
          <a:p>
            <a:endParaRPr lang="en-US" sz="2400" dirty="0"/>
          </a:p>
          <a:p>
            <a:r>
              <a:rPr lang="en-US" sz="2400" dirty="0"/>
              <a:t>In budget-constrained index tuning, Wii can significantly </a:t>
            </a:r>
            <a:r>
              <a:rPr lang="en-US" sz="2400" dirty="0">
                <a:solidFill>
                  <a:srgbClr val="C00000"/>
                </a:solidFill>
              </a:rPr>
              <a:t>improve index quality</a:t>
            </a:r>
            <a:r>
              <a:rPr lang="en-US" sz="2400" dirty="0"/>
              <a:t> by </a:t>
            </a:r>
            <a:r>
              <a:rPr lang="en-US" sz="2400" dirty="0">
                <a:solidFill>
                  <a:srgbClr val="C00000"/>
                </a:solidFill>
              </a:rPr>
              <a:t>reallocating</a:t>
            </a:r>
            <a:r>
              <a:rPr lang="en-US" sz="2400" dirty="0"/>
              <a:t> budget to the what-if calls that cannot be skipped.</a:t>
            </a:r>
          </a:p>
          <a:p>
            <a:endParaRPr lang="en-US" sz="2400" dirty="0"/>
          </a:p>
          <a:p>
            <a:r>
              <a:rPr lang="en-US" sz="2400" dirty="0"/>
              <a:t>For index tuning with </a:t>
            </a:r>
            <a:r>
              <a:rPr lang="en-US" sz="2400" dirty="0">
                <a:solidFill>
                  <a:srgbClr val="C00000"/>
                </a:solidFill>
              </a:rPr>
              <a:t>unlimited</a:t>
            </a:r>
            <a:r>
              <a:rPr lang="en-US" sz="2400" dirty="0"/>
              <a:t> budget, Wii cannot improve index quality but can significantly </a:t>
            </a:r>
            <a:r>
              <a:rPr lang="en-US" sz="2400" dirty="0">
                <a:solidFill>
                  <a:srgbClr val="C00000"/>
                </a:solidFill>
              </a:rPr>
              <a:t>reduce index tuning time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4576A-FAB3-FFC6-5F53-65A82830B6F6}"/>
              </a:ext>
            </a:extLst>
          </p:cNvPr>
          <p:cNvSpPr txBox="1"/>
          <p:nvPr/>
        </p:nvSpPr>
        <p:spPr>
          <a:xfrm>
            <a:off x="5115479" y="5395888"/>
            <a:ext cx="5722106" cy="70788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/>
              <a:t>Thank you! If you have any questions, please contact: </a:t>
            </a:r>
            <a:r>
              <a:rPr lang="en-US" sz="2000" u="sng"/>
              <a:t>wentao.wu@microsoft.com</a:t>
            </a:r>
          </a:p>
        </p:txBody>
      </p:sp>
    </p:spTree>
    <p:extLst>
      <p:ext uri="{BB962C8B-B14F-4D97-AF65-F5344CB8AC3E}">
        <p14:creationId xmlns:p14="http://schemas.microsoft.com/office/powerpoint/2010/main" val="81804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EDD00-B740-8BCD-5F8C-FC8341EE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Backup Slides</a:t>
            </a:r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50740C02-CC3C-5C4E-D28E-C3C42E2A2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0F40A-866D-0575-20AD-5EDC85CB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BDD045F-69BF-4B57-8EEA-5508235BA5BA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90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oup 28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30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2AAE53-89EF-3667-5199-6800E277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3" y="279852"/>
            <a:ext cx="10309414" cy="1030515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Why Can Budget Reallocation Help Improve Index Quality In Budget-aware Index Tuning?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0AED6-024E-F0B9-8F9F-8BBFC6CE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A5E74-E741-42EB-B229-04096B3CDC3B}"/>
              </a:ext>
            </a:extLst>
          </p:cNvPr>
          <p:cNvSpPr txBox="1"/>
          <p:nvPr/>
        </p:nvSpPr>
        <p:spPr>
          <a:xfrm>
            <a:off x="609600" y="1862048"/>
            <a:ext cx="3327400" cy="1477328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/>
              <a:t>Tables:</a:t>
            </a:r>
            <a:r>
              <a:rPr lang="en-US"/>
              <a:t> R(a, b), S(c, d)</a:t>
            </a:r>
          </a:p>
          <a:p>
            <a:endParaRPr lang="en-US"/>
          </a:p>
          <a:p>
            <a:r>
              <a:rPr lang="en-US" b="1" u="sng"/>
              <a:t>Query q:</a:t>
            </a:r>
            <a:endParaRPr lang="en-US"/>
          </a:p>
          <a:p>
            <a:r>
              <a:rPr lang="en-US" b="1">
                <a:solidFill>
                  <a:schemeClr val="accent1"/>
                </a:solidFill>
              </a:rPr>
              <a:t>SELECT</a:t>
            </a:r>
            <a:r>
              <a:rPr lang="en-US"/>
              <a:t> a, d </a:t>
            </a:r>
            <a:r>
              <a:rPr lang="en-US" b="1">
                <a:solidFill>
                  <a:schemeClr val="accent1"/>
                </a:solidFill>
              </a:rPr>
              <a:t>FROM</a:t>
            </a:r>
            <a:r>
              <a:rPr lang="en-US"/>
              <a:t> R, S</a:t>
            </a:r>
          </a:p>
          <a:p>
            <a:r>
              <a:rPr lang="en-US" b="1">
                <a:solidFill>
                  <a:schemeClr val="accent1"/>
                </a:solidFill>
              </a:rPr>
              <a:t>WHERE</a:t>
            </a:r>
            <a:r>
              <a:rPr lang="en-US"/>
              <a:t> </a:t>
            </a:r>
            <a:r>
              <a:rPr lang="en-US" err="1"/>
              <a:t>R.b</a:t>
            </a:r>
            <a:r>
              <a:rPr lang="en-US"/>
              <a:t> = </a:t>
            </a:r>
            <a:r>
              <a:rPr lang="en-US" err="1"/>
              <a:t>S.c</a:t>
            </a:r>
            <a:r>
              <a:rPr lang="en-US"/>
              <a:t> </a:t>
            </a:r>
            <a:r>
              <a:rPr lang="en-US" b="1">
                <a:solidFill>
                  <a:schemeClr val="accent1"/>
                </a:solidFill>
              </a:rPr>
              <a:t>AND</a:t>
            </a:r>
            <a:r>
              <a:rPr lang="en-US"/>
              <a:t> </a:t>
            </a:r>
            <a:r>
              <a:rPr lang="en-US" err="1"/>
              <a:t>R.a</a:t>
            </a:r>
            <a:r>
              <a:rPr lang="en-US"/>
              <a:t> = 40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F576E2A-9CB0-8211-CCD5-A15A94FDA0A9}"/>
              </a:ext>
            </a:extLst>
          </p:cNvPr>
          <p:cNvGrpSpPr/>
          <p:nvPr/>
        </p:nvGrpSpPr>
        <p:grpSpPr>
          <a:xfrm>
            <a:off x="4127501" y="1855313"/>
            <a:ext cx="6582833" cy="1530240"/>
            <a:chOff x="4127501" y="1855313"/>
            <a:chExt cx="6582833" cy="1530240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BE5497D9-56AA-2357-CC9B-A72A3550BB40}"/>
                </a:ext>
              </a:extLst>
            </p:cNvPr>
            <p:cNvSpPr/>
            <p:nvPr/>
          </p:nvSpPr>
          <p:spPr>
            <a:xfrm>
              <a:off x="4127501" y="2299089"/>
              <a:ext cx="609600" cy="33866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23F517-F357-6115-9D1A-D92FD298AC86}"/>
                </a:ext>
              </a:extLst>
            </p:cNvPr>
            <p:cNvSpPr txBox="1"/>
            <p:nvPr/>
          </p:nvSpPr>
          <p:spPr>
            <a:xfrm>
              <a:off x="4927602" y="1855313"/>
              <a:ext cx="2031998" cy="1477328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u="sng"/>
                <a:t>Candidate Indexes:</a:t>
              </a:r>
              <a:endParaRPr lang="en-US"/>
            </a:p>
            <a:p>
              <a:endParaRPr lang="en-US"/>
            </a:p>
            <a:p>
              <a:r>
                <a:rPr lang="en-US" b="1" i="1"/>
                <a:t>I</a:t>
              </a:r>
              <a:r>
                <a:rPr lang="en-US" b="1" i="1" baseline="-25000"/>
                <a:t>1</a:t>
              </a:r>
              <a:r>
                <a:rPr lang="en-US"/>
                <a:t> = [</a:t>
              </a:r>
              <a:r>
                <a:rPr lang="en-US" u="sng" err="1"/>
                <a:t>R.a</a:t>
              </a:r>
              <a:r>
                <a:rPr lang="en-US"/>
                <a:t>; </a:t>
              </a:r>
              <a:r>
                <a:rPr lang="en-US" err="1"/>
                <a:t>R.b</a:t>
              </a:r>
              <a:r>
                <a:rPr lang="en-US"/>
                <a:t>]</a:t>
              </a:r>
            </a:p>
            <a:p>
              <a:endParaRPr lang="en-US"/>
            </a:p>
            <a:p>
              <a:r>
                <a:rPr lang="en-US" b="1" i="1"/>
                <a:t>I</a:t>
              </a:r>
              <a:r>
                <a:rPr lang="en-US" b="1" i="1" baseline="-25000"/>
                <a:t>2</a:t>
              </a:r>
              <a:r>
                <a:rPr lang="en-US"/>
                <a:t> = [</a:t>
              </a:r>
              <a:r>
                <a:rPr lang="en-US" u="sng" err="1"/>
                <a:t>S.c</a:t>
              </a:r>
              <a:r>
                <a:rPr lang="en-US"/>
                <a:t>; </a:t>
              </a:r>
              <a:r>
                <a:rPr lang="en-US" err="1"/>
                <a:t>S.d</a:t>
              </a:r>
              <a:r>
                <a:rPr lang="en-US"/>
                <a:t>]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FF90471-FDF2-AD42-BE25-F7F2FE67E06C}"/>
                </a:ext>
              </a:extLst>
            </p:cNvPr>
            <p:cNvSpPr/>
            <p:nvPr/>
          </p:nvSpPr>
          <p:spPr>
            <a:xfrm>
              <a:off x="5325535" y="2404533"/>
              <a:ext cx="476966" cy="440267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6F0B006-AC73-CFBE-33B6-BE6AB0630322}"/>
                </a:ext>
              </a:extLst>
            </p:cNvPr>
            <p:cNvCxnSpPr>
              <a:cxnSpLocks/>
              <a:stCxn id="10" idx="7"/>
            </p:cNvCxnSpPr>
            <p:nvPr/>
          </p:nvCxnSpPr>
          <p:spPr>
            <a:xfrm flipV="1">
              <a:off x="5732651" y="2201333"/>
              <a:ext cx="1785750" cy="267676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B1BFB4-3029-72C0-31E3-AB9662963C03}"/>
                </a:ext>
              </a:extLst>
            </p:cNvPr>
            <p:cNvSpPr txBox="1"/>
            <p:nvPr/>
          </p:nvSpPr>
          <p:spPr>
            <a:xfrm>
              <a:off x="7513636" y="2016667"/>
              <a:ext cx="3191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For the filter predicate </a:t>
              </a:r>
              <a:r>
                <a:rPr lang="en-US" err="1"/>
                <a:t>R.a</a:t>
              </a:r>
              <a:r>
                <a:rPr lang="en-US"/>
                <a:t> = 40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4372E7D-F5DC-7C47-F259-55AA19E6A97C}"/>
                </a:ext>
              </a:extLst>
            </p:cNvPr>
            <p:cNvSpPr/>
            <p:nvPr/>
          </p:nvSpPr>
          <p:spPr>
            <a:xfrm>
              <a:off x="5317068" y="2945286"/>
              <a:ext cx="476966" cy="440267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0AE7F-6C2E-A8C6-C86F-8B21E3F86753}"/>
                </a:ext>
              </a:extLst>
            </p:cNvPr>
            <p:cNvCxnSpPr>
              <a:cxnSpLocks/>
              <a:stCxn id="14" idx="7"/>
            </p:cNvCxnSpPr>
            <p:nvPr/>
          </p:nvCxnSpPr>
          <p:spPr>
            <a:xfrm flipV="1">
              <a:off x="5724184" y="2742086"/>
              <a:ext cx="1785750" cy="267676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549FDB-C318-5A59-E0E8-31544340C2ED}"/>
                </a:ext>
              </a:extLst>
            </p:cNvPr>
            <p:cNvSpPr txBox="1"/>
            <p:nvPr/>
          </p:nvSpPr>
          <p:spPr>
            <a:xfrm>
              <a:off x="7518401" y="2570665"/>
              <a:ext cx="3191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For the join predicate </a:t>
              </a:r>
              <a:r>
                <a:rPr lang="en-US" err="1"/>
                <a:t>R.b</a:t>
              </a:r>
              <a:r>
                <a:rPr lang="en-US"/>
                <a:t> = </a:t>
              </a:r>
              <a:r>
                <a:rPr lang="en-US" err="1"/>
                <a:t>S.c</a:t>
              </a:r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E72492-4715-457B-E143-E7932A6F162E}"/>
              </a:ext>
            </a:extLst>
          </p:cNvPr>
          <p:cNvGrpSpPr/>
          <p:nvPr/>
        </p:nvGrpSpPr>
        <p:grpSpPr>
          <a:xfrm>
            <a:off x="1854201" y="3466231"/>
            <a:ext cx="8178800" cy="2806355"/>
            <a:chOff x="1854201" y="3466231"/>
            <a:chExt cx="8178800" cy="280635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DC82B3C-5D5C-D00F-D7E2-24B5BE2511BB}"/>
                </a:ext>
              </a:extLst>
            </p:cNvPr>
            <p:cNvSpPr txBox="1"/>
            <p:nvPr/>
          </p:nvSpPr>
          <p:spPr>
            <a:xfrm>
              <a:off x="1854201" y="3964262"/>
              <a:ext cx="8178800" cy="2308324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u="sng"/>
                <a:t>Budget Allocation:</a:t>
              </a:r>
              <a:r>
                <a:rPr lang="en-US" b="1" i="1"/>
                <a:t> </a:t>
              </a:r>
              <a:r>
                <a:rPr lang="en-US" i="1"/>
                <a:t>Assume that the budget B = 1 (i.e., we can only make 1 what-if call) and K = 1 (i.e., we can only select one of the two indexes </a:t>
              </a:r>
              <a:r>
                <a:rPr lang="en-US" b="1" i="1"/>
                <a:t>I</a:t>
              </a:r>
              <a:r>
                <a:rPr lang="en-US" b="1" i="1" baseline="-25000"/>
                <a:t>1</a:t>
              </a:r>
              <a:r>
                <a:rPr lang="en-US" i="1"/>
                <a:t> and </a:t>
              </a:r>
              <a:r>
                <a:rPr lang="en-US" b="1" i="1"/>
                <a:t>I</a:t>
              </a:r>
              <a:r>
                <a:rPr lang="en-US" b="1" i="1" baseline="-25000"/>
                <a:t>2</a:t>
              </a:r>
              <a:r>
                <a:rPr lang="en-US" i="1"/>
                <a:t> for </a:t>
              </a:r>
              <a:r>
                <a:rPr lang="en-US" b="1" i="1"/>
                <a:t>q</a:t>
              </a:r>
              <a:r>
                <a:rPr lang="en-US" i="1"/>
                <a:t>).</a:t>
              </a:r>
            </a:p>
            <a:p>
              <a:endParaRPr lang="en-US" i="1"/>
            </a:p>
            <a:p>
              <a:pPr marL="342900" indent="-342900">
                <a:buAutoNum type="arabicPeriod"/>
              </a:pPr>
              <a:r>
                <a:rPr lang="en-US"/>
                <a:t>There are two potential what-if calls to be made: 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1</a:t>
              </a:r>
              <a:r>
                <a:rPr lang="en-US"/>
                <a:t>), 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2</a:t>
              </a:r>
              <a:r>
                <a:rPr lang="en-US"/>
                <a:t>).</a:t>
              </a:r>
            </a:p>
            <a:p>
              <a:pPr marL="342900" indent="-342900">
                <a:buAutoNum type="arabicPeriod"/>
              </a:pPr>
              <a:r>
                <a:rPr lang="en-US"/>
                <a:t>True what-if costs: c(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1</a:t>
              </a:r>
              <a:r>
                <a:rPr lang="en-US"/>
                <a:t>) = 180, c(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2</a:t>
              </a:r>
              <a:r>
                <a:rPr lang="en-US"/>
                <a:t>) = 50.</a:t>
              </a:r>
            </a:p>
            <a:p>
              <a:pPr marL="342900" indent="-342900">
                <a:buAutoNum type="arabicPeriod"/>
              </a:pPr>
              <a:r>
                <a:rPr lang="en-US"/>
                <a:t>Derived costs: d(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1</a:t>
              </a:r>
              <a:r>
                <a:rPr lang="en-US"/>
                <a:t>) = 200, d(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2</a:t>
              </a:r>
              <a:r>
                <a:rPr lang="en-US"/>
                <a:t>) = 200.</a:t>
              </a:r>
            </a:p>
            <a:p>
              <a:pPr marL="342900" indent="-342900">
                <a:buAutoNum type="arabicPeriod"/>
              </a:pPr>
              <a:r>
                <a:rPr lang="en-US"/>
                <a:t>If we make what-if call for 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1</a:t>
              </a:r>
              <a:r>
                <a:rPr lang="en-US"/>
                <a:t>), we will select </a:t>
              </a:r>
              <a:r>
                <a:rPr lang="en-US" b="1" i="1"/>
                <a:t>I</a:t>
              </a:r>
              <a:r>
                <a:rPr lang="en-US" b="1" i="1" baseline="-25000"/>
                <a:t>1</a:t>
              </a:r>
              <a:r>
                <a:rPr lang="en-US"/>
                <a:t> and the cost of </a:t>
              </a:r>
              <a:r>
                <a:rPr lang="en-US" b="1"/>
                <a:t>q</a:t>
              </a:r>
              <a:r>
                <a:rPr lang="en-US"/>
                <a:t> is c(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1</a:t>
              </a:r>
              <a:r>
                <a:rPr lang="en-US"/>
                <a:t>) = 180.</a:t>
              </a:r>
            </a:p>
            <a:p>
              <a:pPr marL="342900" indent="-342900">
                <a:buFontTx/>
                <a:buAutoNum type="arabicPeriod"/>
              </a:pPr>
              <a:r>
                <a:rPr lang="en-US"/>
                <a:t>If we make what-if call for 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2</a:t>
              </a:r>
              <a:r>
                <a:rPr lang="en-US"/>
                <a:t>), we will select </a:t>
              </a:r>
              <a:r>
                <a:rPr lang="en-US" b="1" i="1"/>
                <a:t>I</a:t>
              </a:r>
              <a:r>
                <a:rPr lang="en-US" b="1" i="1" baseline="-25000"/>
                <a:t>2</a:t>
              </a:r>
              <a:r>
                <a:rPr lang="en-US"/>
                <a:t> and the cost of </a:t>
              </a:r>
              <a:r>
                <a:rPr lang="en-US" b="1"/>
                <a:t>q</a:t>
              </a:r>
              <a:r>
                <a:rPr lang="en-US"/>
                <a:t> is c(</a:t>
              </a:r>
              <a:r>
                <a:rPr lang="en-US" b="1"/>
                <a:t>q</a:t>
              </a:r>
              <a:r>
                <a:rPr lang="en-US"/>
                <a:t>, </a:t>
              </a:r>
              <a:r>
                <a:rPr lang="en-US" b="1" i="1"/>
                <a:t>I</a:t>
              </a:r>
              <a:r>
                <a:rPr lang="en-US" b="1" i="1" baseline="-25000"/>
                <a:t>2</a:t>
              </a:r>
              <a:r>
                <a:rPr lang="en-US"/>
                <a:t>) = 50.</a:t>
              </a:r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A0ECF3CE-2624-2F02-99C1-14278DD7F10B}"/>
                </a:ext>
              </a:extLst>
            </p:cNvPr>
            <p:cNvSpPr/>
            <p:nvPr/>
          </p:nvSpPr>
          <p:spPr>
            <a:xfrm rot="5400000">
              <a:off x="5680370" y="3509327"/>
              <a:ext cx="424859" cy="33866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89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A47AF-D485-EF0B-026A-B7BD0F07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Budget-aware Index Tuning (SIGMOD’22)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B8AE82A-E1F3-85FC-D96D-D71CEB9CA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333" y="2496255"/>
            <a:ext cx="10277820" cy="3567173"/>
          </a:xfrm>
        </p:spPr>
        <p:txBody>
          <a:bodyPr anchor="ctr">
            <a:normAutofit lnSpcReduction="10000"/>
          </a:bodyPr>
          <a:lstStyle/>
          <a:p>
            <a:r>
              <a:rPr lang="en-US" sz="1900"/>
              <a:t>User may want to constrain the tuning time when face large/complex workloads.</a:t>
            </a:r>
          </a:p>
          <a:p>
            <a:pPr lvl="1"/>
            <a:r>
              <a:rPr lang="en-US" sz="1900"/>
              <a:t>Microsoft’s Database Tuning Advisor (DTA) allows user to specify a timeout.</a:t>
            </a:r>
          </a:p>
          <a:p>
            <a:pPr lvl="1"/>
            <a:endParaRPr lang="en-US" sz="1900"/>
          </a:p>
          <a:p>
            <a:r>
              <a:rPr lang="en-US" sz="1900"/>
              <a:t>Under constrained tuning time, given the dominance of time on making what-if calls, we need to constrain the number of what-if calls made during configuration enumeration.</a:t>
            </a:r>
          </a:p>
          <a:p>
            <a:pPr lvl="1"/>
            <a:r>
              <a:rPr lang="en-US" sz="1900"/>
              <a:t>We call this constrained version of index tuning “budget-aware index tuning”.</a:t>
            </a:r>
          </a:p>
          <a:p>
            <a:pPr lvl="1"/>
            <a:r>
              <a:rPr lang="en-US" sz="1900" b="1" u="sng"/>
              <a:t>Budget allocation</a:t>
            </a:r>
            <a:r>
              <a:rPr lang="en-US" sz="1900"/>
              <a:t>: Decide which (q, C) pairs to make what-if calls.</a:t>
            </a:r>
          </a:p>
          <a:p>
            <a:pPr lvl="1"/>
            <a:endParaRPr lang="en-US" sz="1900"/>
          </a:p>
          <a:p>
            <a:r>
              <a:rPr lang="en-US" sz="1900"/>
              <a:t>In previous work (SIGMOD’22), we studied the two types of budget-aware index tuning algorithms:</a:t>
            </a:r>
          </a:p>
          <a:p>
            <a:pPr lvl="1"/>
            <a:r>
              <a:rPr lang="en-US" sz="1900"/>
              <a:t>Greedy search (vanilla greedy search and two-phase greedy search)</a:t>
            </a:r>
          </a:p>
          <a:p>
            <a:pPr lvl="1"/>
            <a:r>
              <a:rPr lang="en-US" sz="1900"/>
              <a:t>Monte-Carlo tree search (MCTS)</a:t>
            </a:r>
          </a:p>
          <a:p>
            <a:pPr lvl="1"/>
            <a:endParaRPr lang="en-US" sz="1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FEB78-7119-D9DA-4AF6-6DF14CA1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7685" y="6352695"/>
            <a:ext cx="685800" cy="320040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375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B6D90-6C60-44D0-8551-DB435A80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Greedy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5C159-51E4-3F12-9082-586AD7BA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3A0F9B-3A6C-7AA7-0A48-685B9E15EFD4}"/>
              </a:ext>
            </a:extLst>
          </p:cNvPr>
          <p:cNvGrpSpPr/>
          <p:nvPr/>
        </p:nvGrpSpPr>
        <p:grpSpPr>
          <a:xfrm>
            <a:off x="851285" y="1907361"/>
            <a:ext cx="10031868" cy="3638474"/>
            <a:chOff x="678040" y="1907361"/>
            <a:chExt cx="10031868" cy="363847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9406E16-DEFC-0126-7C14-ABEF0CAEB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040" y="1907361"/>
              <a:ext cx="4575277" cy="295013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F91B990-D2C0-851A-5B87-65A629551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6841" y="1907361"/>
              <a:ext cx="4239654" cy="29239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4C3CFC-4F47-336E-32BA-79E6AED14EFC}"/>
                </a:ext>
              </a:extLst>
            </p:cNvPr>
            <p:cNvSpPr txBox="1"/>
            <p:nvPr/>
          </p:nvSpPr>
          <p:spPr>
            <a:xfrm>
              <a:off x="1416423" y="5084170"/>
              <a:ext cx="33947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(a) Vanilla greedy search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56AA0C-9730-8686-B3E2-EEAB3450D977}"/>
                </a:ext>
              </a:extLst>
            </p:cNvPr>
            <p:cNvSpPr txBox="1"/>
            <p:nvPr/>
          </p:nvSpPr>
          <p:spPr>
            <a:xfrm>
              <a:off x="6687671" y="5084169"/>
              <a:ext cx="4022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(b) Two-phase greedy search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4322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F1408-5854-D61F-54EE-227262EA0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Monte Carlo Tree Search</a:t>
            </a:r>
            <a:r>
              <a:rPr lang="en-US" sz="3200">
                <a:solidFill>
                  <a:schemeClr val="bg1"/>
                </a:solidFill>
              </a:rPr>
              <a:t> (MCTS)</a:t>
            </a:r>
            <a:endParaRPr lang="en-US" sz="3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2719ED-49A7-6F29-7A52-9A6590358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55" y="1675227"/>
            <a:ext cx="9449889" cy="43941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0EDB2E-AD0C-6664-965C-D0194A83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337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oup 28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30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2AAE53-89EF-3667-5199-6800E277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Spurious What-If Calls In Budget Allocation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0AED6-024E-F0B9-8F9F-8BBFC6CE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05E6A6-936E-7417-4E14-19AB3EEB682A}"/>
              </a:ext>
            </a:extLst>
          </p:cNvPr>
          <p:cNvGrpSpPr/>
          <p:nvPr/>
        </p:nvGrpSpPr>
        <p:grpSpPr>
          <a:xfrm>
            <a:off x="738665" y="1669143"/>
            <a:ext cx="10483850" cy="4750614"/>
            <a:chOff x="838200" y="1605736"/>
            <a:chExt cx="10483850" cy="475061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048E6E7-D3F8-98FC-7706-FB5BAA3D244C}"/>
                </a:ext>
              </a:extLst>
            </p:cNvPr>
            <p:cNvGrpSpPr/>
            <p:nvPr/>
          </p:nvGrpSpPr>
          <p:grpSpPr>
            <a:xfrm>
              <a:off x="838200" y="1605736"/>
              <a:ext cx="10483850" cy="4100920"/>
              <a:chOff x="757518" y="1481670"/>
              <a:chExt cx="10483850" cy="410092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F4E5D02-513B-4C1F-C333-D44850CAE0D5}"/>
                  </a:ext>
                </a:extLst>
              </p:cNvPr>
              <p:cNvGrpSpPr/>
              <p:nvPr/>
            </p:nvGrpSpPr>
            <p:grpSpPr>
              <a:xfrm>
                <a:off x="757518" y="2100149"/>
                <a:ext cx="10483850" cy="3482441"/>
                <a:chOff x="838200" y="1407566"/>
                <a:chExt cx="10483850" cy="3482441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14643759-CD73-F30E-5C12-19FCFFEAFA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8200" y="1483770"/>
                  <a:ext cx="4705592" cy="2940201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1AA59DA9-6A59-DBBB-0C73-82635AD4E8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48210" y="1407566"/>
                  <a:ext cx="4673840" cy="3016405"/>
                </a:xfrm>
                <a:prstGeom prst="rect">
                  <a:avLst/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A14C0F7-83E6-6811-0B0D-6509AD82C612}"/>
                    </a:ext>
                  </a:extLst>
                </p:cNvPr>
                <p:cNvSpPr txBox="1"/>
                <p:nvPr/>
              </p:nvSpPr>
              <p:spPr>
                <a:xfrm>
                  <a:off x="1416425" y="4428342"/>
                  <a:ext cx="389068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(a) Two-phase greedy search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06CC388-C366-5111-5493-D45EE6EBA26D}"/>
                    </a:ext>
                  </a:extLst>
                </p:cNvPr>
                <p:cNvSpPr txBox="1"/>
                <p:nvPr/>
              </p:nvSpPr>
              <p:spPr>
                <a:xfrm>
                  <a:off x="8405292" y="4423971"/>
                  <a:ext cx="146484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(b) MCTS</a:t>
                  </a: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0F5284E-7E2C-8EAF-991A-DF5E766EE6BC}"/>
                  </a:ext>
                </a:extLst>
              </p:cNvPr>
              <p:cNvSpPr txBox="1"/>
              <p:nvPr/>
            </p:nvSpPr>
            <p:spPr>
              <a:xfrm>
                <a:off x="1671917" y="1481670"/>
                <a:ext cx="88481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Distribution of the </a:t>
                </a:r>
                <a:r>
                  <a:rPr kumimoji="0" 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relative gap</a:t>
                </a: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between </a:t>
                </a:r>
                <a:r>
                  <a:rPr kumimoji="0" 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what-if cost </a:t>
                </a: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and </a:t>
                </a:r>
                <a:r>
                  <a:rPr kumimoji="0" lang="en-US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derived cost</a:t>
                </a: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E771177-BFDC-31C3-7507-B6298E2BA735}"/>
                    </a:ext>
                  </a:extLst>
                </p:cNvPr>
                <p:cNvSpPr txBox="1"/>
                <p:nvPr/>
              </p:nvSpPr>
              <p:spPr>
                <a:xfrm>
                  <a:off x="3581401" y="5894685"/>
                  <a:ext cx="5253317" cy="461665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Derived Cost:</a:t>
                  </a: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𝒅</m:t>
                      </m:r>
                      <m:d>
                        <m:d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𝒒</m:t>
                          </m:r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𝑪</m:t>
                          </m:r>
                        </m:e>
                      </m:d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𝒎𝒊𝒏</m:t>
                          </m:r>
                        </m:e>
                        <m:sub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𝑺</m:t>
                          </m:r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⊆</m:t>
                          </m:r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𝑪</m:t>
                          </m:r>
                        </m:sub>
                      </m:sSub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𝒄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𝒒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𝑺</m:t>
                      </m:r>
                      <m:r>
                        <a:rPr kumimoji="0" lang="en-US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a14:m>
                  <a:endParaRPr kumimoji="0" 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E771177-BFDC-31C3-7507-B6298E2BA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401" y="5894685"/>
                  <a:ext cx="5253317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501" t="-7500" b="-25000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93149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E0E73B-35EE-E76E-0679-25E4B3825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Lower and Upper Bounds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CBD452-0830-706A-B780-DE6FFFA2FD29}"/>
                  </a:ext>
                </a:extLst>
              </p:cNvPr>
              <p:cNvSpPr txBox="1"/>
              <p:nvPr/>
            </p:nvSpPr>
            <p:spPr>
              <a:xfrm>
                <a:off x="945016" y="3621523"/>
                <a:ext cx="9496427" cy="13852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8575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Upper bound is set as the derived cost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𝑈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𝑚𝑖𝑛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⊆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  <a:p>
                <a:pPr marL="28575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Lower bound is set as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,∅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sub>
                      <m:sup/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</m:nary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74295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the </a:t>
                </a:r>
                <a: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upper bound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of the </a:t>
                </a:r>
                <a:r>
                  <a:rPr kumimoji="0" lang="en-US" sz="20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marginal cost improvement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(MCI) of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  <a:p>
                <a:pPr marL="74295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Example 1: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,∅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74295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Example 2: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,∅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sz="20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q</m:t>
                            </m:r>
                          </m:sub>
                        </m:sSub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Ω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CBD452-0830-706A-B780-DE6FFFA2F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16" y="3621523"/>
                <a:ext cx="9496427" cy="1385266"/>
              </a:xfrm>
              <a:prstGeom prst="rect">
                <a:avLst/>
              </a:prstGeom>
              <a:blipFill>
                <a:blip r:embed="rId2"/>
                <a:stretch>
                  <a:fillRect t="-12335" b="-37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9096B-F0DE-03B0-B4CA-FA1E9314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8E15BD-0C71-A43C-183C-C3E3557838C6}"/>
                  </a:ext>
                </a:extLst>
              </p:cNvPr>
              <p:cNvSpPr txBox="1"/>
              <p:nvPr/>
            </p:nvSpPr>
            <p:spPr>
              <a:xfrm>
                <a:off x="657657" y="1777927"/>
                <a:ext cx="10071146" cy="707886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Assumption 1 (</a:t>
                </a: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Monotonicity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):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be two index configurations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⊆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)≤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8E15BD-0C71-A43C-183C-C3E355783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57" y="1777927"/>
                <a:ext cx="10071146" cy="707886"/>
              </a:xfrm>
              <a:prstGeom prst="rect">
                <a:avLst/>
              </a:prstGeom>
              <a:blipFill>
                <a:blip r:embed="rId3"/>
                <a:stretch>
                  <a:fillRect l="-543" t="-3333" b="-12500"/>
                </a:stretch>
              </a:blipFill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01739B-EB6A-864E-2E13-7F9079F3AB54}"/>
                  </a:ext>
                </a:extLst>
              </p:cNvPr>
              <p:cNvSpPr txBox="1"/>
              <p:nvPr/>
            </p:nvSpPr>
            <p:spPr>
              <a:xfrm>
                <a:off x="657657" y="2699725"/>
                <a:ext cx="10071146" cy="707886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Assumption 2 (</a:t>
                </a:r>
                <a:r>
                  <a:rPr kumimoji="0" lang="en-US" sz="20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Submodularity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): Given two configurations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⊆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and an index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∉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we have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</m:d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01739B-EB6A-864E-2E13-7F9079F3A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57" y="2699725"/>
                <a:ext cx="10071146" cy="707886"/>
              </a:xfrm>
              <a:prstGeom prst="rect">
                <a:avLst/>
              </a:prstGeom>
              <a:blipFill>
                <a:blip r:embed="rId4"/>
                <a:stretch>
                  <a:fillRect l="-543" t="-3333" b="-12500"/>
                </a:stretch>
              </a:blipFill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E70EF3-7D99-4F8B-4F88-7EEB0CBF9D3A}"/>
                  </a:ext>
                </a:extLst>
              </p:cNvPr>
              <p:cNvSpPr txBox="1"/>
              <p:nvPr/>
            </p:nvSpPr>
            <p:spPr>
              <a:xfrm>
                <a:off x="1005946" y="5504969"/>
                <a:ext cx="9435497" cy="427425"/>
              </a:xfrm>
              <a:prstGeom prst="rect">
                <a:avLst/>
              </a:prstGeom>
              <a:noFill/>
              <a:ln w="2540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q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represents the “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best possible configuration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” with </a:t>
                </a: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ALL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candidate indexes of q included.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E70EF3-7D99-4F8B-4F88-7EEB0CBF9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46" y="5504969"/>
                <a:ext cx="9435497" cy="427425"/>
              </a:xfrm>
              <a:prstGeom prst="rect">
                <a:avLst/>
              </a:prstGeom>
              <a:blipFill>
                <a:blip r:embed="rId5"/>
                <a:stretch>
                  <a:fillRect t="-2703" r="-451" b="-16216"/>
                </a:stretch>
              </a:blipFill>
              <a:ln w="254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138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786B3-32CB-2B07-DDCC-091D9FF7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Confidence-based Skipping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BF5DB-91F3-92F3-53E2-B2273D33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C2235CC-5BB6-B3D4-3159-E566C51A71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2287" y="1834868"/>
                <a:ext cx="11312033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u="sng"/>
                  <a:t>Intuition:</a:t>
                </a:r>
              </a:p>
              <a:p>
                <a:pPr lvl="1"/>
                <a:r>
                  <a:rPr lang="en-US"/>
                  <a:t>We are </a:t>
                </a:r>
                <a:r>
                  <a:rPr lang="en-US">
                    <a:solidFill>
                      <a:srgbClr val="00B050"/>
                    </a:solidFill>
                  </a:rPr>
                  <a:t>more confident </a:t>
                </a:r>
                <a:r>
                  <a:rPr lang="en-US"/>
                  <a:t>to skip a what-if call if its lower and upper bounds are </a:t>
                </a:r>
                <a:r>
                  <a:rPr lang="en-US">
                    <a:solidFill>
                      <a:srgbClr val="00B050"/>
                    </a:solidFill>
                  </a:rPr>
                  <a:t>closer</a:t>
                </a:r>
                <a:r>
                  <a:rPr lang="en-US"/>
                  <a:t>.</a:t>
                </a:r>
              </a:p>
              <a:p>
                <a:pPr lvl="1"/>
                <a:endParaRPr lang="en-US"/>
              </a:p>
              <a:p>
                <a:r>
                  <a:rPr lang="en-US"/>
                  <a:t>Definition of confidence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)=1−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)≤1</m:t>
                    </m:r>
                  </m:oMath>
                </a14:m>
                <a:endParaRPr lang="en-US"/>
              </a:p>
              <a:p>
                <a:pPr lvl="1"/>
                <a:endParaRPr lang="en-US"/>
              </a:p>
              <a:p>
                <a:r>
                  <a:rPr lang="en-US"/>
                  <a:t>Confidence-based skipping:</a:t>
                </a:r>
              </a:p>
              <a:p>
                <a:pPr lvl="1"/>
                <a:r>
                  <a:rPr lang="en-US"/>
                  <a:t>Define some threshold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</a:t>
                </a:r>
                <a:r>
                  <a:rPr lang="en-US" err="1"/>
                  <a:t>s.t.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Skip the what-if call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endParaRPr lang="en-US"/>
              </a:p>
              <a:p>
                <a:pPr lvl="1"/>
                <a:endParaRPr lang="en-US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C2235CC-5BB6-B3D4-3159-E566C51A7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287" y="1834868"/>
                <a:ext cx="11312033" cy="4351338"/>
              </a:xfrm>
              <a:blipFill>
                <a:blip r:embed="rId2"/>
                <a:stretch>
                  <a:fillRect l="-970" t="-3221" r="-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07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669D6-9548-1EA9-3AF7-73D524B1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Coverage-based Refinement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0239F-FA80-C4F3-0D09-448DA3E1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5">
                <a:extLst>
                  <a:ext uri="{FF2B5EF4-FFF2-40B4-BE49-F238E27FC236}">
                    <a16:creationId xmlns:a16="http://schemas.microsoft.com/office/drawing/2014/main" id="{D9DD9440-3D90-0F89-ECF9-0184EDD9CD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2287" y="1834868"/>
                <a:ext cx="113120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b="1" u="sng"/>
                  <a:t>Problem: </a:t>
                </a:r>
                <a:r>
                  <a:rPr lang="en-US"/>
                  <a:t>The MCI upper bound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used by the lower bound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/>
                  <a:t> heavily depends on the knowledge of </a:t>
                </a:r>
                <a:r>
                  <a:rPr lang="en-US">
                    <a:solidFill>
                      <a:srgbClr val="00B050"/>
                    </a:solidFill>
                  </a:rPr>
                  <a:t>singleton</a:t>
                </a:r>
                <a:r>
                  <a:rPr lang="en-US"/>
                  <a:t> what-if cost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,∅</m:t>
                        </m:r>
                      </m:e>
                    </m:d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, if we know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; otherwise, we can only use the “naïve bound”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lvl="1" algn="just"/>
                <a:endParaRPr lang="en-US"/>
              </a:p>
              <a:p>
                <a:r>
                  <a:rPr lang="en-US" b="1" u="sng"/>
                  <a:t>Solution:</a:t>
                </a:r>
                <a:r>
                  <a:rPr lang="en-US"/>
                  <a:t> Use “coverage” to </a:t>
                </a:r>
                <a:r>
                  <a:rPr lang="en-US" i="1"/>
                  <a:t>estimate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, if it is not known.</a:t>
                </a:r>
              </a:p>
              <a:p>
                <a:pPr lvl="1"/>
                <a:r>
                  <a:rPr lang="en-US"/>
                  <a:t>Definition of “coverage”: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Estimation of “coverage” using </a:t>
                </a:r>
                <a:r>
                  <a:rPr lang="en-US" u="sng">
                    <a:solidFill>
                      <a:srgbClr val="0070C0"/>
                    </a:solidFill>
                  </a:rPr>
                  <a:t>similarity</a:t>
                </a:r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See paper for more details.</a:t>
                </a:r>
              </a:p>
              <a:p>
                <a:pPr lvl="1"/>
                <a:endParaRPr lang="en-US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5" name="Content Placeholder 5">
                <a:extLst>
                  <a:ext uri="{FF2B5EF4-FFF2-40B4-BE49-F238E27FC236}">
                    <a16:creationId xmlns:a16="http://schemas.microsoft.com/office/drawing/2014/main" id="{D9DD9440-3D90-0F89-ECF9-0184EDD9C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2287" y="1834868"/>
                <a:ext cx="11312033" cy="4351338"/>
              </a:xfrm>
              <a:blipFill>
                <a:blip r:embed="rId2"/>
                <a:stretch>
                  <a:fillRect l="-970" t="-2381" r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29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4BB31-9D1F-EEA7-878C-C02C2FF5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Geometric Interpretation of Coverage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59BD1-6F41-52AD-1297-2733E983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7B6373-9EE9-EACA-89FE-F3358120CC40}"/>
              </a:ext>
            </a:extLst>
          </p:cNvPr>
          <p:cNvGrpSpPr/>
          <p:nvPr/>
        </p:nvGrpSpPr>
        <p:grpSpPr>
          <a:xfrm>
            <a:off x="1371599" y="1816660"/>
            <a:ext cx="10143948" cy="4238447"/>
            <a:chOff x="1371599" y="1816660"/>
            <a:chExt cx="10143948" cy="423844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30F4787-285A-8946-3981-B9BC401A8E8B}"/>
                </a:ext>
              </a:extLst>
            </p:cNvPr>
            <p:cNvGrpSpPr/>
            <p:nvPr/>
          </p:nvGrpSpPr>
          <p:grpSpPr>
            <a:xfrm>
              <a:off x="1371599" y="2912915"/>
              <a:ext cx="9090234" cy="3142192"/>
              <a:chOff x="1149621" y="2172135"/>
              <a:chExt cx="9090234" cy="314219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612D823-2913-DFF8-50E4-1A32EE6EB0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49621" y="2172135"/>
                <a:ext cx="4705767" cy="2458111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BE75671-DB85-0E69-0821-D977A9C0AF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0798" y="2199944"/>
                <a:ext cx="2882196" cy="2458112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FA9F77-420F-A59C-5253-F8C564FA4DE9}"/>
                  </a:ext>
                </a:extLst>
              </p:cNvPr>
              <p:cNvSpPr txBox="1"/>
              <p:nvPr/>
            </p:nvSpPr>
            <p:spPr>
              <a:xfrm>
                <a:off x="1624183" y="4835881"/>
                <a:ext cx="38159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(a) Definition of “Coverage”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D2EA5A-B630-6703-04B4-D92FA6FF432B}"/>
                  </a:ext>
                </a:extLst>
              </p:cNvPr>
              <p:cNvSpPr txBox="1"/>
              <p:nvPr/>
            </p:nvSpPr>
            <p:spPr>
              <a:xfrm>
                <a:off x="6423937" y="4852662"/>
                <a:ext cx="38159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(b) Estimation of “Coverage” 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9F9BC18-A6E4-2249-9541-495C07913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8209" y="1816660"/>
              <a:ext cx="5607338" cy="8636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8224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DB5EC1-1C84-D6C1-C884-CEE08665A40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1599" y="294538"/>
                <a:ext cx="9895951" cy="103366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4000">
                    <a:solidFill>
                      <a:srgbClr val="FFFFFF"/>
                    </a:solidFill>
                  </a:rPr>
                  <a:t>Evaluation: Impact of Confidence Threshold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400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DB5EC1-1C84-D6C1-C884-CEE08665A4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1599" y="294538"/>
                <a:ext cx="9895951" cy="1033669"/>
              </a:xfrm>
              <a:blipFill>
                <a:blip r:embed="rId3"/>
                <a:stretch>
                  <a:fillRect l="-2157" b="-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D85B5-C851-1CBF-5719-00F8F7E4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1C9D3F-C5E3-CC90-F9AF-0B4828F1D603}"/>
              </a:ext>
            </a:extLst>
          </p:cNvPr>
          <p:cNvGrpSpPr/>
          <p:nvPr/>
        </p:nvGrpSpPr>
        <p:grpSpPr>
          <a:xfrm>
            <a:off x="153823" y="2094281"/>
            <a:ext cx="11646749" cy="1990854"/>
            <a:chOff x="289783" y="2487505"/>
            <a:chExt cx="11646749" cy="199085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E9C23D8-B761-A405-E2FD-4A7BCDD54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783" y="2487505"/>
              <a:ext cx="11612433" cy="15907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048CB3-8818-FC9E-25F5-D8B24057598E}"/>
                </a:ext>
              </a:extLst>
            </p:cNvPr>
            <p:cNvSpPr txBox="1"/>
            <p:nvPr/>
          </p:nvSpPr>
          <p:spPr>
            <a:xfrm>
              <a:off x="725569" y="4078249"/>
              <a:ext cx="2246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(a) TPC-H,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B=1,000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B8EC78-61EA-8EB6-93D1-CD71A26D443E}"/>
                </a:ext>
              </a:extLst>
            </p:cNvPr>
            <p:cNvSpPr txBox="1"/>
            <p:nvPr/>
          </p:nvSpPr>
          <p:spPr>
            <a:xfrm>
              <a:off x="3602772" y="4078249"/>
              <a:ext cx="24362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(b) TPC-DS,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DC7247-97C9-A389-121E-53709E55F882}"/>
                </a:ext>
              </a:extLst>
            </p:cNvPr>
            <p:cNvSpPr txBox="1"/>
            <p:nvPr/>
          </p:nvSpPr>
          <p:spPr>
            <a:xfrm>
              <a:off x="6595570" y="4078249"/>
              <a:ext cx="23487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(c) Real-D,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7047F3-DCD0-1DDF-F3FB-F29DBC6E3385}"/>
                </a:ext>
              </a:extLst>
            </p:cNvPr>
            <p:cNvSpPr txBox="1"/>
            <p:nvPr/>
          </p:nvSpPr>
          <p:spPr>
            <a:xfrm>
              <a:off x="9587805" y="4078249"/>
              <a:ext cx="2348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(d) Real-M,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3A86A7-508E-EB0B-45CC-D321C0B85BB2}"/>
                  </a:ext>
                </a:extLst>
              </p:cNvPr>
              <p:cNvSpPr txBox="1"/>
              <p:nvPr/>
            </p:nvSpPr>
            <p:spPr>
              <a:xfrm>
                <a:off x="751590" y="1649711"/>
                <a:ext cx="106888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1. Results for </a:t>
                </a:r>
                <a:r>
                  <a:rPr kumimoji="0" lang="en-US" sz="2000" b="0" i="1" u="sng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two-phase greedy search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with the number of indexes allowed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=20</m:t>
                    </m:r>
                  </m:oMath>
                </a14:m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3A86A7-508E-EB0B-45CC-D321C0B85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90" y="1649711"/>
                <a:ext cx="10688816" cy="400110"/>
              </a:xfrm>
              <a:prstGeom prst="rect">
                <a:avLst/>
              </a:prstGeom>
              <a:blipFill>
                <a:blip r:embed="rId5"/>
                <a:stretch>
                  <a:fillRect l="-570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0FDC68-A00B-F89A-BA2B-CCE78D97303A}"/>
                  </a:ext>
                </a:extLst>
              </p:cNvPr>
              <p:cNvSpPr txBox="1"/>
              <p:nvPr/>
            </p:nvSpPr>
            <p:spPr>
              <a:xfrm>
                <a:off x="751590" y="4131646"/>
                <a:ext cx="83692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2. Results for </a:t>
                </a:r>
                <a:r>
                  <a:rPr kumimoji="0" lang="en-US" sz="2000" b="0" i="1" u="sng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MCTS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with the number of indexes allowed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𝐾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=20</m:t>
                    </m:r>
                  </m:oMath>
                </a14:m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0FDC68-A00B-F89A-BA2B-CCE78D973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90" y="4131646"/>
                <a:ext cx="8369261" cy="400110"/>
              </a:xfrm>
              <a:prstGeom prst="rect">
                <a:avLst/>
              </a:prstGeom>
              <a:blipFill>
                <a:blip r:embed="rId6"/>
                <a:stretch>
                  <a:fillRect l="-728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8F2FA293-828E-20D5-E4C4-911E01E1F549}"/>
              </a:ext>
            </a:extLst>
          </p:cNvPr>
          <p:cNvGrpSpPr/>
          <p:nvPr/>
        </p:nvGrpSpPr>
        <p:grpSpPr>
          <a:xfrm>
            <a:off x="153823" y="4558586"/>
            <a:ext cx="11646749" cy="1990357"/>
            <a:chOff x="153823" y="4558586"/>
            <a:chExt cx="11646749" cy="199035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F8A1E28-ED68-B4DF-0733-13A86167B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823" y="4558586"/>
              <a:ext cx="11612433" cy="162141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7AACD5-5781-3715-3475-15611B2B80EC}"/>
                </a:ext>
              </a:extLst>
            </p:cNvPr>
            <p:cNvSpPr txBox="1"/>
            <p:nvPr/>
          </p:nvSpPr>
          <p:spPr>
            <a:xfrm>
              <a:off x="589609" y="6117662"/>
              <a:ext cx="2246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(a) TPC-H,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B=1,000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80BE7BE-7B3E-F3C5-5A95-15CB01CBCEF1}"/>
                </a:ext>
              </a:extLst>
            </p:cNvPr>
            <p:cNvSpPr txBox="1"/>
            <p:nvPr/>
          </p:nvSpPr>
          <p:spPr>
            <a:xfrm>
              <a:off x="3466811" y="6148833"/>
              <a:ext cx="24362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(b) TPC-DS,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0099B20-F03B-4CC4-6335-8972BB21A8D2}"/>
                </a:ext>
              </a:extLst>
            </p:cNvPr>
            <p:cNvSpPr txBox="1"/>
            <p:nvPr/>
          </p:nvSpPr>
          <p:spPr>
            <a:xfrm>
              <a:off x="6454979" y="6117662"/>
              <a:ext cx="23487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(c) Real-D,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8D0A9C7-93E4-69DB-3271-0C6C4CF44A20}"/>
                </a:ext>
              </a:extLst>
            </p:cNvPr>
            <p:cNvSpPr txBox="1"/>
            <p:nvPr/>
          </p:nvSpPr>
          <p:spPr>
            <a:xfrm>
              <a:off x="9451845" y="6116191"/>
              <a:ext cx="2348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(d) Real-M,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7954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BC6C9-CAAD-C350-914E-BE30EA92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98" y="273696"/>
            <a:ext cx="11501799" cy="1033669"/>
          </a:xfrm>
        </p:spPr>
        <p:txBody>
          <a:bodyPr>
            <a:normAutofit/>
          </a:bodyPr>
          <a:lstStyle/>
          <a:p>
            <a:r>
              <a:rPr lang="en-US" sz="4000" b="1" u="sng">
                <a:solidFill>
                  <a:srgbClr val="FFFFFF"/>
                </a:solidFill>
              </a:rPr>
              <a:t>Evaluation:</a:t>
            </a:r>
            <a:r>
              <a:rPr lang="en-US" sz="4000">
                <a:solidFill>
                  <a:srgbClr val="FFFFFF"/>
                </a:solidFill>
              </a:rPr>
              <a:t> Budget-aware Index Tuning (Overhead</a:t>
            </a:r>
            <a:r>
              <a:rPr lang="en-US" altLang="zh-CN" sz="4000">
                <a:solidFill>
                  <a:srgbClr val="FFFFFF"/>
                </a:solidFill>
              </a:rPr>
              <a:t>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70DB0-906B-C6BB-77BA-D4EBF676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196D27-3E72-7B74-789F-4A05F1A2DD38}"/>
              </a:ext>
            </a:extLst>
          </p:cNvPr>
          <p:cNvGrpSpPr/>
          <p:nvPr/>
        </p:nvGrpSpPr>
        <p:grpSpPr>
          <a:xfrm>
            <a:off x="222952" y="1900514"/>
            <a:ext cx="11623945" cy="2327202"/>
            <a:chOff x="345098" y="4092713"/>
            <a:chExt cx="11623945" cy="232720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8636A52-819B-AB4D-3FBF-764B88021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5098" y="4092713"/>
              <a:ext cx="11623945" cy="198273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054A34-8073-3393-37C2-E95E48A0A8F8}"/>
                </a:ext>
              </a:extLst>
            </p:cNvPr>
            <p:cNvSpPr txBox="1"/>
            <p:nvPr/>
          </p:nvSpPr>
          <p:spPr>
            <a:xfrm>
              <a:off x="729610" y="6053533"/>
              <a:ext cx="2186995" cy="360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(a) TPC-H,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B=1,000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007AFEF-7B9C-49AD-2690-488845F614CF}"/>
                </a:ext>
              </a:extLst>
            </p:cNvPr>
            <p:cNvSpPr txBox="1"/>
            <p:nvPr/>
          </p:nvSpPr>
          <p:spPr>
            <a:xfrm>
              <a:off x="3646215" y="6053532"/>
              <a:ext cx="2372075" cy="360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(b) TPC-DS,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15C6BA-CA7B-C4EF-77E9-0008271D5072}"/>
                </a:ext>
              </a:extLst>
            </p:cNvPr>
            <p:cNvSpPr txBox="1"/>
            <p:nvPr/>
          </p:nvSpPr>
          <p:spPr>
            <a:xfrm>
              <a:off x="6818315" y="6051819"/>
              <a:ext cx="2286829" cy="360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(c) Real-D,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5A6AEA2-7EF4-F159-C439-8F4817B05D11}"/>
                </a:ext>
              </a:extLst>
            </p:cNvPr>
            <p:cNvSpPr txBox="1"/>
            <p:nvPr/>
          </p:nvSpPr>
          <p:spPr>
            <a:xfrm>
              <a:off x="9640446" y="6059070"/>
              <a:ext cx="2286830" cy="360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(d) Real-M, </a:t>
              </a: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B=5,000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ACDF57D-347E-845A-6E88-B826E15AB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400" y="4404204"/>
            <a:ext cx="7569589" cy="20956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6B674F-E038-2291-0A3B-1B65F9522BD7}"/>
                  </a:ext>
                </a:extLst>
              </p:cNvPr>
              <p:cNvSpPr txBox="1"/>
              <p:nvPr/>
            </p:nvSpPr>
            <p:spPr>
              <a:xfrm>
                <a:off x="696203" y="4436346"/>
                <a:ext cx="2827866" cy="2031325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rgbClr val="C00000"/>
                    </a:solidFill>
                  </a:rPr>
                  <a:t>Additional overhead</a:t>
                </a:r>
                <a:r>
                  <a:rPr lang="en-US"/>
                  <a:t> of Wii and Wii-Coverage, measured as </a:t>
                </a:r>
                <a:r>
                  <a:rPr lang="en-US">
                    <a:solidFill>
                      <a:srgbClr val="C00000"/>
                    </a:solidFill>
                  </a:rPr>
                  <a:t>percentage of the execution time</a:t>
                </a:r>
                <a:r>
                  <a:rPr lang="en-US"/>
                  <a:t> of the baseline configuration search algorithm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n-US"/>
                  <a:t>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6B674F-E038-2291-0A3B-1B65F9522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03" y="4436346"/>
                <a:ext cx="2827866" cy="2031325"/>
              </a:xfrm>
              <a:prstGeom prst="rect">
                <a:avLst/>
              </a:prstGeom>
              <a:blipFill>
                <a:blip r:embed="rId5"/>
                <a:stretch>
                  <a:fillRect l="-1282" t="-1187" b="-3264"/>
                </a:stretch>
              </a:blipFill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5044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7|17.2|14.1|8|25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7.4|25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2099</Words>
  <Application>Microsoft Office PowerPoint</Application>
  <PresentationFormat>Widescreen</PresentationFormat>
  <Paragraphs>257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Wii: Dynamic Budget Reallocation in Index Tuning</vt:lpstr>
      <vt:lpstr>The Architecture of Cost-based Index Tuning</vt:lpstr>
      <vt:lpstr>What-if Calls are Expensive</vt:lpstr>
      <vt:lpstr>Many What-If Calls Are Inessential</vt:lpstr>
      <vt:lpstr>Can We Skip Inessential What-If Calls?</vt:lpstr>
      <vt:lpstr>Wii: What-if (Call) Interception</vt:lpstr>
      <vt:lpstr>Applications of Wii in Index Tuning</vt:lpstr>
      <vt:lpstr>Summary of Technical Contributions</vt:lpstr>
      <vt:lpstr>Evaluation: Budget-aware Index Tuning (Index Quality)</vt:lpstr>
      <vt:lpstr>Evaluation: Budget-aware Index Tuning (vs. Random Skipping)</vt:lpstr>
      <vt:lpstr>Evaluation: Index Tuning with Unlimited Budget</vt:lpstr>
      <vt:lpstr>Conclusion</vt:lpstr>
      <vt:lpstr>Backup Slides</vt:lpstr>
      <vt:lpstr>Why Can Budget Reallocation Help Improve Index Quality In Budget-aware Index Tuning?</vt:lpstr>
      <vt:lpstr>Budget-aware Index Tuning (SIGMOD’22)</vt:lpstr>
      <vt:lpstr>Greedy Search</vt:lpstr>
      <vt:lpstr>Monte Carlo Tree Search (MCTS)</vt:lpstr>
      <vt:lpstr>Spurious What-If Calls In Budget Allocation</vt:lpstr>
      <vt:lpstr>Lower and Upper Bounds</vt:lpstr>
      <vt:lpstr>Confidence-based Skipping</vt:lpstr>
      <vt:lpstr>Coverage-based Refinement</vt:lpstr>
      <vt:lpstr>Geometric Interpretation of Coverage</vt:lpstr>
      <vt:lpstr>Evaluation: Impact of Confidence Threshold α</vt:lpstr>
      <vt:lpstr>Evaluation: Budget-aware Index Tuning (Overhead)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Budget-aware Index Tuning with Reinforcement Learning</dc:title>
  <dc:creator>Wentao Wu</dc:creator>
  <cp:lastModifiedBy>Wentao Wu</cp:lastModifiedBy>
  <cp:revision>1</cp:revision>
  <dcterms:created xsi:type="dcterms:W3CDTF">2022-04-23T21:31:03Z</dcterms:created>
  <dcterms:modified xsi:type="dcterms:W3CDTF">2025-10-09T03:04:38Z</dcterms:modified>
</cp:coreProperties>
</file>